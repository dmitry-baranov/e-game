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Исходная задача — добавить в экономическую игру агентов, которые помогают игроку выбирать стратегию. За шесть итераций мы построили не только интерфейс советов, но и отдельный контур сбора данных, обучения и исследования. В презентации отделены реализованные возможности, фактические результаты и дальнейшие задачи. Технические оптимизации не являются предметом доклада.</a:t>
            </a:r>
          </a:p>
          <a:p/>
          <a:p>
            <a:r>
              <a:t>Источники в репозитории:</a:t>
            </a:r>
          </a:p>
          <a:p>
            <a:r>
              <a:t>STRATEGY_AGENTS_IMPLEMENTATION.md</a:t>
            </a:r>
          </a:p>
          <a:p>
            <a:r>
              <a:t>STRATEGY_AGENTS_STAGE2_IMPLEMENTATION.md</a:t>
            </a:r>
          </a:p>
          <a:p>
            <a:r>
              <a:t>STRATEGY_AGENTS_STAGE3_IMPLEMENTATION.md</a:t>
            </a:r>
          </a:p>
          <a:p>
            <a:r>
              <a:t>STRATEGY_AGENTS_STAGE4_IMPLEMENTATION.md</a:t>
            </a:r>
          </a:p>
          <a:p>
            <a:r>
              <a:t>STRATEGY_AGENTS_STAGE5_IMPLEMENTATION.md</a:t>
            </a:r>
          </a:p>
          <a:p>
            <a:r>
              <a:t>STRATEGY_AGENTS_STAGE6_IMPLEMENTATION.md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Игроку приходится одновременно управлять производством, продажами и деньгами. Поэтому задача советчика — не просто назвать цену, а показать несколько допустимых решений и объяснить их последствия. Кнопка выбора стратегии сохраняет ориентир, но сама не запускает производство и не берёт кредит. Это сохраняет самостоятельность участника игры.</a:t>
            </a:r>
          </a:p>
          <a:p/>
          <a:p>
            <a:r>
              <a:t>Источники в репозитории:</a:t>
            </a:r>
          </a:p>
          <a:p>
            <a:r>
              <a:t>analitics/STRATEGY_AGENTS_TASK.md</a:t>
            </a:r>
          </a:p>
          <a:p>
            <a:r>
              <a:t>STRATEGY_AGENTS_IMPLEMENTATION.md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Первая итерация была полностью основана на правилах. Во второй появилась возможность учить прогноз продаж и использовать его для сравнения карточек. Третья дала отдельную лабораторию с ботами и парными играми. Четвёртая сделала решения и обучение наблюдаемыми. Пятая расширила разнообразие поведения ботов и позволила собрать крупный корпус. Шестая преимущественно посвящена технической поддержке этого масштаба; нового исследовательского алгоритма ей не приписываем. Часть исследовательских задач четвёртого этапа остаётся открытой.</a:t>
            </a:r>
          </a:p>
          <a:p/>
          <a:p>
            <a:r>
              <a:t>Источники в репозитории:</a:t>
            </a:r>
          </a:p>
          <a:p>
            <a:r>
              <a:t>STRATEGY_AGENTS_IMPLEMENTATION.md</a:t>
            </a:r>
          </a:p>
          <a:p>
            <a:r>
              <a:t>STRATEGY_AGENTS_STAGE2_IMPLEMENTATION.md</a:t>
            </a:r>
          </a:p>
          <a:p>
            <a:r>
              <a:t>STRATEGY_AGENTS_STAGE3_IMPLEMENTATION.md</a:t>
            </a:r>
          </a:p>
          <a:p>
            <a:r>
              <a:t>STRATEGY_AGENTS_STAGE4_IMPLEMENTATION.md</a:t>
            </a:r>
          </a:p>
          <a:p>
            <a:r>
              <a:t>STRATEGY_AGENTS_STAGE5_IMPLEMENTATION.md</a:t>
            </a:r>
          </a:p>
          <a:p>
            <a:r>
              <a:t>STRATEGY_AGENTS_STAGE6_IMPLEMENTATION.md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Агент — компонент, отвечающий за аспект решения. Модель — обученный прогноз внутри системы, её алгоритм может быть CatBoost, LightGBM или RandomForest. Координатор формирует варианты и объединяет результаты. Сейчас одна модель продаж общая для всех карточек; рыночный, производственный и финансовый агенты не являются тремя CatBoost. LLM добавляет текстовое объяснение, а не выполняет экономические расчёты.</a:t>
            </a:r>
          </a:p>
          <a:p/>
          <a:p>
            <a:r>
              <a:t>Источники в репозитории:</a:t>
            </a:r>
          </a:p>
          <a:p>
            <a:r>
              <a:t>STRATEGY_AGENTS_IMPLEMENTATION.md</a:t>
            </a:r>
          </a:p>
          <a:p>
            <a:r>
              <a:t>STRATEGY_AGENTS_STAGE2_IMPLEMENTATION.md</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эскиз представления вклада агентов, а не скриншот действующей страницы. Сейчас интерфейс показывает объединённые карточки вариантов, а не три независимых панели. В предлагаемом представлении рыночный агент объясняет торговые ориентиры, производственный — параметры выпуска и затраты, финансовый — деньги и риск. Финальный вариант формируется совместно: каждый агент не отдаёт игроку отдельную несовместимую команду. Все фразы в эскизе иллюстративные.</a:t>
            </a:r>
          </a:p>
          <a:p/>
          <a:p>
            <a:r>
              <a:t>Источники в репозитории:</a:t>
            </a:r>
          </a:p>
          <a:p>
            <a:r>
              <a:t>STRATEGY_AGENTS_IMPLEMENTATION.md</a:t>
            </a:r>
          </a:p>
          <a:p>
            <a:r>
              <a:t>STRATEGY_AGENTS_STAGE2_IMPLEMENTATION.md</a:t>
            </a:r>
          </a:p>
          <a:p>
            <a:r>
              <a:t>src/main/resources/templates/strategies.ftlh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Рыночный агент сейчас анализирует собственные продажи за последние доступные дни и видимые предложения конкурентов. Он даёт свидетельства для формирования вариантов: цену конкурента, историю продаж, предупреждение о короткой истории или ограничении продаж запасом. Например, более дешёвый конкурент даёт основание сравнить снижение цены, но не гарантирует рост продаж. Отдельная ML-модель внутри этого агента пока не встроена: координатор вызывает общий прогноз после формирования карточек.</a:t>
            </a:r>
          </a:p>
          <a:p/>
          <a:p>
            <a:r>
              <a:t>Источники в репозитории:</a:t>
            </a:r>
          </a:p>
          <a:p>
            <a:r>
              <a:t>STRATEGY_AGENTS_IMPLEMENTATION.md</a:t>
            </a:r>
          </a:p>
          <a:p>
            <a:r>
              <a:t>STRATEGY_AGENTS_STAGE2_IMPLEMENTATION.md</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Производственный агент получает параметры рассматриваемого плана и известные базовые цены. Формулы игры определяют себестоимость, длительность цикла, стоимость выпуска и рекламы, а на старте — мощности. Варианты проверяются на допустимость. Координатор предлагает изменить партию, качество или рекламу, а производственный агент рассчитывает их последствия. Поэтому фразу «агент предлагает меньшую партию» следует понимать как вклад роли в общую рекомендацию, а не независимый выбор производственного агента. Формулы уже известны, учить CatBoost воспроизводить их не требуется.</a:t>
            </a:r>
          </a:p>
          <a:p/>
          <a:p>
            <a:r>
              <a:t>Источники в репозитории:</a:t>
            </a:r>
          </a:p>
          <a:p>
            <a:r>
              <a:t>STRATEGY_AGENTS_IMPLEMENTATION.md</a:t>
            </a:r>
          </a:p>
          <a:p>
            <a:r>
              <a:t>STRATEGY_AGENTS_STAGE2_IMPLEMENTATION.md</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Финансовый агент сначала проверяет, хватает ли денег на вариант, и рассчитывает известные платежи и ориентир резерва. После ML-прогноза координатор вызывает пересчёт условных денег: баланс после затрат минус платежи плюс прогнозная выручка после налога. Для карточки с новым кредитом ML-пересчёт денег сейчас не выполняется, потому что будущие платежи нового кредита здесь не моделируются. Это оценка сценария, а не гарантированная будущая прибыль. Критерий общего выбора — осторожная оценка денег у сопоставимых карточек.</a:t>
            </a:r>
          </a:p>
          <a:p/>
          <a:p>
            <a:r>
              <a:t>Источники в репозитории:</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Текущая последовательность: снимок доступного состояния, рыночный анализ, создание нескольких планов, производственный и финансовый фильтр, прогноз общей модели для каждого допустимого плана, пересчёт денег и сравнение. Это упрощённый граф данных, а не схема параллельного исполнения. В коде сначала сохраняется до трёх карточек. При применимом прогнозе ко всем сопоставимым вариантам без личного плана они сортируются по нижней оценке денег. При отсутствии сопоставимости порядок правил сохраняется. Модель не применяется до открытия предприятия. Другие обученные кандидаты могут показывать отличающийся выбор, но не голосуют за решение.</a:t>
            </a:r>
          </a:p>
          <a:p/>
          <a:p>
            <a:r>
              <a:t>Источники в репозитории:</a:t>
            </a:r>
          </a:p>
          <a:p>
            <a:r>
              <a:t>src/main/java/ru/itis/diploma/service/StrategyCoordinator.java</a:t>
            </a:r>
          </a:p>
          <a:p>
            <a:r>
              <a:t>src/main/java/ru/itis/diploma/service/StrategyFinancialAgent.java</a:t>
            </a:r>
          </a:p>
          <a:p>
            <a:r>
              <a:t>src/main/java/ru/itis/diploma/service/HttpStrategyPredictor.java</a:t>
            </a:r>
          </a:p>
          <a:p>
            <a:r>
              <a:t>ml/server.py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упрощённый пример показывает механику, а не реальные прогнозы и не точные карточки игры. Пусть на старте сравнения есть 500 денег, 50 известных платежей, налоги для простоты отсутствуют. Вариант A: затраты 300, прогноз продаж 40 по цене 10, условные деньги 550. Вариант B: затраты 240, продажи 38 по цене 10, деньги 590. Вариант C: затраты 300, продажи 47 по цене 9, деньги 573. Меньшая партия выигрывает по условным деньгам, несмотря на меньшее число продаж. В реальной реализации для ранжирования берётся осторожная оценка продаж, учитываются налог и допустимость. Новая цена или невыбранное действие остаются прогнозной, а не причинно доказанной оценкой.</a:t>
            </a:r>
          </a:p>
          <a:p/>
          <a:p>
            <a:r>
              <a:t>Источники в репозитории:</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Модель не обучается заново при каждом вопросе игрока. В эксперименте администратор запускает обучение отдельно после сбора завершённых игр. Обучение формирует сохранённую версию модели, которую сервис затем загружает для прогнозов. Новый совет использует эту версию и свежий снимок игры. В обычном контуре предусмотрено фоновое переобучение, но артефакты лаборатории изолированы и автоматически туда не передаются.</a:t>
            </a:r>
          </a:p>
          <a:p/>
          <a:p>
            <a:r>
              <a:t>Источники в репозитории:</a:t>
            </a:r>
          </a:p>
          <a:p>
            <a:r>
              <a:t>ml/learning.py</a:t>
            </a:r>
          </a:p>
          <a:p>
            <a:r>
              <a:t>ml/server.py</a:t>
            </a:r>
          </a:p>
          <a:p>
            <a:r>
              <a:t>presentation/training-report-2026-10-09.json</a:t>
            </a:r>
          </a:p>
          <a:p>
            <a:r>
              <a:t>compose.experiment.yml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Отдельно от агентов-советчиков здесь речь идёт о ботах — участниках игры, которые создают разные траектории данных. Было шесть политик, добавили ещё 32. Есть как осторожные, так и исследовательские варианты. При малом числе ботов политики чередуются между играми, чтобы корпус не состоял только из первых имён списка. Проверочный прогон подтверждает выполнение и покрытие политик, но не финансовую оптимальность каждой из них.</a:t>
            </a:r>
          </a:p>
          <a:p/>
          <a:p>
            <a:r>
              <a:t>Источники в репозитории:</a:t>
            </a:r>
          </a:p>
          <a:p>
            <a:r>
              <a:t>STRATEGY_AGENTS_STAGE5_IMPLEMENTATION.md</a:t>
            </a:r>
          </a:p>
          <a:p>
            <a:r>
              <a:t>src/main/java/ru/itis/diploma/experiment/BotPolicies.java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Снимок сохраняется при подтверждении производства, до появления будущих результатов. Потом к нему присоединяются продажи за полный следующий цикл. Так модель получает пары вход—результат. Прогнозируется наблюдаемое количество проданных единиц, а не скрытый спрос и не максимальная прибыль. В обычной игре использование эпизодов требует отдельного согласия игрока; экспериментальные боты работают в изолированной базе.</a:t>
            </a:r>
          </a:p>
          <a:p/>
          <a:p>
            <a:r>
              <a:t>Источники в репозитории:</a:t>
            </a:r>
          </a:p>
          <a:p>
            <a:r>
              <a:t>STRATEGY_AGENTS_STAGE2_IMPLEMENTATION.md</a:t>
            </a:r>
          </a:p>
          <a:p>
            <a:r>
              <a:t>ml/learning.py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Признаки формируются из StrategySnapshot и рассматриваемого действия. Все кандидаты сейчас получают одни и те же 17 числовых признаков; категориальные возможности CatBoost сами по себе ещё не используются в этой версии. Скрытые параметры рынка можно видеть в административной аналитике для исследования, но нельзя передавать советчику. Отдельная будущая задача — проверить полезность разрешённых признаков, а не просто увеличить их число.</a:t>
            </a:r>
          </a:p>
          <a:p/>
          <a:p>
            <a:r>
              <a:t>Источники в репозитории:</a:t>
            </a:r>
          </a:p>
          <a:p>
            <a:r>
              <a:t>ml/learning.py</a:t>
            </a:r>
          </a:p>
          <a:p>
            <a:r>
              <a:t>src/main/java/ru/itis/diploma/service/StrategySnapshotService.java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Числа взяты из сохранённого JSON последнего обучения. Кнопка на странице серии запускает обучение на всём подходящем экспериментальном корпусе, а не только на выбранной серии. В отчёте отбора нет неполных и дублирующихся циклов среди уже подходящих завершённых игр — это не означает отсутствие неполных игр в базе. Несколько решений одного бота и одной игры зависимы, поэтому оценка должна учитывать группировку. Реальный запуск занял около 63 секунд; время здесь не является научной метрикой. Серии 17 и 20 имеют по 1000 завершённых игр; в серии 17 было 2–4 бота, в серии 20 — 10–20. Обе использовали 38 политик и 45–90 дней. Неполных игр 34 и 370 соответственно. Это важный источник смещения к завершённым траекториям.</a:t>
            </a:r>
          </a:p>
          <a:p/>
          <a:p>
            <a:r>
              <a:t>Источники в репозитории:</a:t>
            </a:r>
          </a:p>
          <a:p>
            <a:r>
              <a:t>presentation/training-report-2026-10-09.json</a:t>
            </a:r>
          </a:p>
          <a:p>
            <a:r>
              <a:t>ml/learning.py</a:t>
            </a:r>
          </a:p>
          <a:p>
            <a:r>
              <a:t>src/main/java/ru/itis/diploma/experiment/ExperimentManager.java</a:t>
            </a:r>
          </a:p>
          <a:p>
            <a:r>
              <a:t>presentation/series-status-2026-10-09.txt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показано число игр в частях последнего запуска, а не число циклов. Разделение GroupShuffleSplit использует seed сценария, поэтому связанные игры не разбрасываются по разным частям. Тестовые seed-группы фиксируются при первом достаточном корпусе. После многократного просмотра теста и изменения генератора нужен дополнительный финальный holdout. Нельзя подбирать гиперпараметры по текущему тестовому MAE и затем считать этот же тест независимой проверкой.</a:t>
            </a:r>
          </a:p>
          <a:p/>
          <a:p>
            <a:r>
              <a:t>Источники в репозитории:</a:t>
            </a:r>
          </a:p>
          <a:p>
            <a:r>
              <a:t>ml/learning.py</a:t>
            </a:r>
          </a:p>
          <a:p>
            <a:r>
              <a:t>presentation/training-report-2026-10-09.json</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четыре алгоритма обучаются на одинаковой тренировочной части с 17 числовыми признаками. Каждый получает состояние и параметры действия, а целевая метка — продажи за полный цикл. Затем каждый прогнозирует валидационную и тестовую части. LastSales не обучается, это контрольный прогноз по истории. Во время отдельного запуска кандидаты в текущем коде обучаются последовательно; разветвление схемы означает сравнение независимых кандидатов, а не параллельность вычисления. Типы моделей не соответствуют ролям рынка, выпуска и финансов.</a:t>
            </a:r>
          </a:p>
          <a:p/>
          <a:p>
            <a:r>
              <a:t>Источники в репозитории:</a:t>
            </a:r>
          </a:p>
          <a:p>
            <a:r>
              <a:t>ml/learning.py</a:t>
            </a:r>
          </a:p>
          <a:p>
            <a:r>
              <a:t>ml/server.py</a:t>
            </a:r>
          </a:p>
          <a:p>
            <a:r>
              <a:t>presentation/training-report-2026-10-09.json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Кандидат выбирается по минимальному валидационному MAE среди тех, кто обошёл LastSales. Если действующая совместимая модель есть, она оценивается на той же текущей валидации: при равном или лучшем результате остаётся прежняя модель. Тестовые метрики публикуются отдельно и не участвуют в выборе. Сохраняются отчёт и версия артефакта. При выдаче совета сервис проверяет, находится ли действие в изученных диапазонах цены, партии, качества и рекламы. При неприменимости или недоступности остаются правила; это не доказательство корректности модели во всех остальных состояниях.</a:t>
            </a:r>
          </a:p>
          <a:p/>
          <a:p>
            <a:r>
              <a:t>Источники в репозитории:</a:t>
            </a:r>
          </a:p>
          <a:p>
            <a:r>
              <a:t>ml/learning.py</a:t>
            </a:r>
          </a:p>
          <a:p>
            <a:r>
              <a:t>ml/server.py</a:t>
            </a:r>
          </a:p>
          <a:p>
            <a:r>
              <a:t>presentation/training-report-2026-10-09.json</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График построен по фактическому отчёту запуска от 9 октября. Тестовый MAE: LastSales 16,522; Ridge 11,332; CatBoost 8,655; LightGBM 8,220; RandomForest 7,029. На валидации RandomForest также лучшая среди текущих кандидатов: 7,036, поэтому она выбрана победителем. Ранее на небольших корпусах побеждал CatBoost. Нынешний результат относится к одному разделению данных и текущим параметрам моделей; он не доказывает, что RandomForest всегда лучше или что уменьшение MAE равно росту прибыли.</a:t>
            </a:r>
          </a:p>
          <a:p/>
          <a:p>
            <a:r>
              <a:t>Источники в репозитории:</a:t>
            </a:r>
          </a:p>
          <a:p>
            <a:r>
              <a:t>presentation/training-report-2026-10-09.json</a:t>
            </a:r>
          </a:p>
          <a:p>
            <a:r>
              <a:t>ml/learning.py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Финансовая разница рассчитывается как результат модели минус результат правил. Пара засчитывается, только когда обе игры полны и модель действительно применялась. Исторический пилот после расширения небольшого корпуса дал 11 побед из 20, но средняя разница оказалась отрицательной: −15,97 игровых денежных единиц. Это полезный исследовательский результат: большинство небольших побед не гарантирует положительную среднюю выгоду. Этот пилот относится к прежнему CatBoost и не является оценкой нынешней RandomForest. Следующий этап — независимые пары для нового победителя, интервалы по уникальным seed и анализ неприменимости.</a:t>
            </a:r>
          </a:p>
          <a:p/>
          <a:p>
            <a:r>
              <a:t>Источники в репозитории:</a:t>
            </a:r>
          </a:p>
          <a:p>
            <a:r>
              <a:t>STRATEGY_AGENTS_STAGE3_IMPLEMENTATION.md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Система стала исследуемой: можно перейти от среднего MAE к конкретной игре, циклу и карточке. Отчёты содержат срезы по рынку, политике, цене и горизонту, а версии модели связаны с сохранённым артефактом. Журналы решений сохраняются для новых решений; старым играм нельзя задним числом приписать подробный журнал. В некоторых случаях есть неполное покрытие причин исключения карточек — это тоже остаётся задачей аналитики. Эти данные помогают объяснить не только успех, но и неудачный результат.</a:t>
            </a:r>
          </a:p>
          <a:p/>
          <a:p>
            <a:r>
              <a:t>Источники в репозитории:</a:t>
            </a:r>
          </a:p>
          <a:p>
            <a:r>
              <a:t>STRATEGY_AGENTS_STAGE4_IMPLEMENTATION.md</a:t>
            </a:r>
          </a:p>
          <a:p>
            <a:r>
              <a:t>ml/analytics_views.sql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Выбор алгоритма отвечает на вопрос, какой прогноз лучше при одинаковой задаче и признаках: CatBoost, LightGBM, RandomForest или Ridge. Выбор устройства советчика отвечает на другой вопрос: как его компоненты используют данные и принимают общее решение. A — контрольный советчик правил. B — нынешние агенты, одна общая модель продаж и финансовый пересчёт. C — гипотеза с отдельными прогнозными задачами агентов, которые координируются. Все три устройства ещё не прошли сопоставимый эксперимент как единая серия; C пока не реализован. Нельзя утверждать, что больше моделей автоматически даст лучший совет.</a:t>
            </a:r>
          </a:p>
          <a:p/>
          <a:p>
            <a:r>
              <a:t>Источники в репозитории:</a:t>
            </a:r>
          </a:p>
          <a:p>
            <a:r>
              <a:t>analitics/STRATEGY_AGENTS_STAGE2_TASK.md</a:t>
            </a:r>
          </a:p>
          <a:p>
            <a:r>
              <a:t>STRATEGY_AGENTS_STAGE4_IMPLEMENTATION.md</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изображён возможный исследовательский вариант, а не описание текущего кода. Рыночный блок прогнозирует продажи; производственный мог бы прогнозировать дефицит или избыточный остаток; финансовый — риск нехватки денег на заданном горизонте. Для новых задач нужно определить метки, горизонт и критерии качества, затем собрать данные. В простых случаях остаток уже можно оценить из прогноза продаж, а затраты точно известны, поэтому отдельные модели могут оказаться избыточными. Координатор согласует выходы и проверяет ограничения; число агентов и моделей в финале зависит от измеренной пользы.</a:t>
            </a:r>
          </a:p>
          <a:p/>
          <a:p>
            <a:r>
              <a:t>Источники в репозитории:</a:t>
            </a:r>
          </a:p>
          <a:p>
            <a:r>
              <a:t>analitics/STRATEGY_AGENTS_STAGE2_TASK.md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Сравнивать архитектуры нужно на одинаковых независимых сценариях и с одинаковыми допустимыми исходными данными. Сначала контроль правил, затем добавление общего прогноза, затем только обоснованные усложнения. Убирать или добавлять блок по одному позволяет проверить вклад компонентов. Оцениваем денежный эффект после долгов и его распределение, долю неприменимости, нарушения ограничений и ошибку прогноза. Объяснения проверяем отдельно, чтобы красивый текст не подменял качество решений. Сохранять стоит простейшее устройство, которое подтверждает нужную пользу; если её нет, результат тоже фиксируется.</a:t>
            </a:r>
          </a:p>
          <a:p/>
          <a:p>
            <a:r>
              <a:t>Источники в репозитории:</a:t>
            </a:r>
          </a:p>
          <a:p>
            <a:r>
              <a:t>analitics/STRATEGY_AGENTS_STAGE2_TASK.md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Результат экономического расчёта является источником истины для объяснения. Сейчас адаптер получает названия, причины, риски и мнения моделей, запрашивает короткий русский текст и проверяет формат, длину и отсутствие цифр. Он не получает право менять планы или расчёты. При сбое используется шаблонное объяснение. Для полноценного помощника предстоит улучшить структурированные причины, проверить достоверность текста и диалог по вопросам игрока. Проверка текущего ответа по форме сама по себе не гарантирует отсутствие смысловых ошибок.</a:t>
            </a:r>
          </a:p>
          <a:p/>
          <a:p>
            <a:r>
              <a:t>Источники в репозитории:</a:t>
            </a:r>
          </a:p>
          <a:p>
            <a:r>
              <a:t>src/main/java/ru/itis/diploma/service/StrategyExplanationService.java</a:t>
            </a:r>
          </a:p>
          <a:p>
            <a:r>
              <a:t>analitics/STRATEGY_AGENTS_STAGE2_TASK.md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показывает желаемый пользовательский опыт: конкретный вариант, понятное объяснение, возможность задать вопрос. Сначала формируется обоснование из реальных расчётов, затем LLM переформулирует его. В действующем адаптере нет полноценного диалога и RAG. Источники правил здесь названы условно: будущий поиск должен возвращать конкретные фрагменты со ссылками, а не выдумывать их. Не обещаем прибыль и не выдаём осторожный прогноз за гарантию.</a:t>
            </a:r>
          </a:p>
          <a:p/>
          <a:p>
            <a:r>
              <a:t>Источники в репозитории:</a:t>
            </a:r>
          </a:p>
          <a:p>
            <a:r>
              <a:t>analitics/STRATEGY_AGENTS_STAGE2_TASK.md</a:t>
            </a:r>
          </a:p>
          <a:p>
            <a:r>
              <a:t>STRATEGY_AGENTS_STAGE4_IMPLEMENTATION.md</a:t>
            </a:r>
          </a:p>
          <a:p>
            <a:r>
              <a:t>src/main/java/ru/itis/diploma/service/StrategyExplanationService.java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подбирает знания к вопросу игрока перед генерацией ответа. Версионированная база может содержать правила производства, налогов, кредитов, рекламы и разрешённые обезличенные разборы. Поиск возвращает конкретные фрагменты и идентификаторы источников. LLM получает их вместе с фактами карточки и объясняет ситуацию, ссылаясь на правила. Это не обучение модели продаж. Если база мала, сначала сравним прямую передачу правил с поиском; векторная база не является обязательным условием. Нужны проверка ссылок, релевантности и запрет извлечения скрытых данных.</a:t>
            </a:r>
          </a:p>
          <a:p/>
          <a:p>
            <a:r>
              <a:t>Источники в репозитории:</a:t>
            </a:r>
          </a:p>
          <a:p>
            <a:r>
              <a:t>analitics/STRATEGY_AGENTS_STAGE2_TASK.md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Целевая схема имеет два потока. В первом агенты с обученной моделью формируют проверенный план и экономические факты. Во втором вопрос игрока вызывает поиск по разрешённым знаниям. LLM соединяет факты рекомендации с найденными правилами и формирует объяснение. После проверки ответ показывается вместе с карточкой, а действие остаётся у игрока. Система не должна передавать объяснения LLM обратно в модель как проверенные учебные метки. Новые учебные примеры возникают из реально принятых действий и фактических результатов завершённых циклов.</a:t>
            </a:r>
          </a:p>
          <a:p/>
          <a:p>
            <a:r>
              <a:t>Источники в репозитории:</a:t>
            </a:r>
          </a:p>
          <a:p>
            <a:r>
              <a:t>analitics/STRATEGY_AGENTS_STAGE2_TASK.md</a:t>
            </a:r>
          </a:p>
          <a:p>
            <a:r>
              <a:t>STRATEGY_AGENTS_STAGE4_IMPLEMENTATION.md</a:t>
            </a:r>
          </a:p>
          <a:p>
            <a:r>
              <a:t>src/main/java/ru/itis/diploma/service/StrategyCoordinator.java</a:t>
            </a:r>
          </a:p>
          <a:p>
            <a:r>
              <a:t>src/main/java/ru/itis/diploma/service/StrategyFinancialAgent.java</a:t>
            </a:r>
          </a:p>
          <a:p>
            <a:r>
              <a:t>src/main/java/ru/itis/diploma/service/HttpStrategyPredictor.java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порядок исследовательских задач, а не обещание фиксированных дат. Работу над базой знаний можно начать параллельно сравнению моделей, но производственный перенос требует игровой проверки. Для модели нужны воспроизводимые метрики и контроль неприменимости; для стратегии — независимые сценарии и распределение финансового эффекта; для текста — соответствие расчётам, корректность ссылок и понимание пользователем. Если модель не даёт выгоды, сохраняем правила и разбираем причины, а не скрываем результат.</a:t>
            </a:r>
          </a:p>
          <a:p/>
          <a:p>
            <a:r>
              <a:t>Источники в репозитории:</a:t>
            </a:r>
          </a:p>
          <a:p>
            <a:r>
              <a:t>analitics/STRATEGY_AGENTS_STAGE2_TASK.md</a:t>
            </a:r>
          </a:p>
          <a:p>
            <a:r>
              <a:t>STRATEGY_AGENTS_STAGE4_IMPLEMENTATION.md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Основной результат — переход от отдельных объяснимых правил к системе, в которой можно собрать данные, обучить кандидатов и проверить, что именно улучшилось. Сейчас есть работающий прогноз и исследовательский инструментарий; нельзя пока утверждать, что рекомендации гарантированно повышают прибыль игроков. Далее выбираем модель по независимым результатам, связываем её вывод с качественными объяснениями LLM и знаниями правил через RAG. Во время демонстрации можно показать карточки игрока, статус серии 20 и отчёт последнего обучения. Уточнение: выбираем не только алгоритм прогноза, но и устройство советчика; отдельные модели по ролям — пока исследовательская гипотеза.</a:t>
            </a:r>
          </a:p>
          <a:p/>
          <a:p>
            <a:r>
              <a:t>Источники в репозитории:</a:t>
            </a:r>
          </a:p>
          <a:p>
            <a:r>
              <a:t>STRATEGY_AGENTS_IMPLEMENTATION.md</a:t>
            </a:r>
          </a:p>
          <a:p>
            <a:r>
              <a:t>STRATEGY_AGENTS_STAGE4_IMPLEMENTATION.md</a:t>
            </a:r>
          </a:p>
          <a:p>
            <a:r>
              <a:t>STRATEGY_AGENTS_STAGE5_IMPLEMENTATION.md</a:t>
            </a:r>
          </a:p>
          <a:p>
            <a:r>
              <a:t>presentation/training-report-2026-10-09.json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438"/>
        </a:solidFill>
        <a:effectLst/>
      </p:bgPr>
    </p:bg>
    <p:spTree>
      <p:nvGrpSpPr>
        <p:cNvPr id="1" name=""/>
        <p:cNvGrpSpPr/>
        <p:nvPr/>
      </p:nvGrpSpPr>
      <p:grpSpPr/>
      <p:sp>
        <p:nvSpPr>
          <p:cNvPr id="2" name="Rectangle 1"/>
          <p:cNvSpPr/>
          <p:nvPr/>
        </p:nvSpPr>
        <p:spPr>
          <a:xfrm>
            <a:off x="548640" y="594360"/>
            <a:ext cx="594360" cy="59436"/>
          </a:xfrm>
          <a:prstGeom prst="rect">
            <a:avLst/>
          </a:prstGeom>
          <a:solidFill>
            <a:srgbClr val="37B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32688"/>
            <a:ext cx="10789920" cy="365760"/>
          </a:xfrm>
          <a:prstGeom prst="rect">
            <a:avLst/>
          </a:prstGeom>
          <a:noFill/>
        </p:spPr>
        <p:txBody>
          <a:bodyPr wrap="none" lIns="0" rIns="0" tIns="0" bIns="0">
            <a:spAutoFit/>
          </a:bodyPr>
          <a:lstStyle/>
          <a:p>
            <a:pPr>
              <a:lnSpc>
                <a:spcPct val="116000"/>
              </a:lnSpc>
              <a:spcBef>
                <a:spcPts val="0"/>
              </a:spcBef>
              <a:spcAft>
                <a:spcPts val="0"/>
              </a:spcAft>
              <a:defRPr sz="1400" b="1">
                <a:solidFill>
                  <a:srgbClr val="77D4D5"/>
                </a:solidFill>
                <a:latin typeface="Arial"/>
              </a:defRPr>
            </a:pPr>
            <a:r>
              <a:t>РЕЗУЛЬТАТЫ ШЕСТИ ИТЕРАЦИЙ</a:t>
            </a:r>
          </a:p>
        </p:txBody>
      </p:sp>
      <p:sp>
        <p:nvSpPr>
          <p:cNvPr id="4" name="TextBox 3"/>
          <p:cNvSpPr txBox="1"/>
          <p:nvPr/>
        </p:nvSpPr>
        <p:spPr>
          <a:xfrm>
            <a:off x="548640" y="1746504"/>
            <a:ext cx="10972800" cy="1938528"/>
          </a:xfrm>
          <a:prstGeom prst="rect">
            <a:avLst/>
          </a:prstGeom>
          <a:noFill/>
        </p:spPr>
        <p:txBody>
          <a:bodyPr wrap="none" lIns="0" rIns="0" tIns="0" bIns="0">
            <a:spAutoFit/>
          </a:bodyPr>
          <a:lstStyle/>
          <a:p>
            <a:pPr>
              <a:lnSpc>
                <a:spcPct val="116000"/>
              </a:lnSpc>
              <a:spcBef>
                <a:spcPts val="0"/>
              </a:spcBef>
              <a:spcAft>
                <a:spcPts val="0"/>
              </a:spcAft>
              <a:defRPr sz="4600" b="1">
                <a:solidFill>
                  <a:srgbClr val="FFFFFF"/>
                </a:solidFill>
                <a:latin typeface="Arial"/>
              </a:defRPr>
            </a:pPr>
            <a:r>
              <a:t>Агенты рекомендаций</a:t>
            </a:r>
          </a:p>
          <a:p>
            <a:pPr>
              <a:lnSpc>
                <a:spcPct val="116000"/>
              </a:lnSpc>
              <a:spcBef>
                <a:spcPts val="0"/>
              </a:spcBef>
              <a:spcAft>
                <a:spcPts val="0"/>
              </a:spcAft>
              <a:defRPr sz="4600" b="1">
                <a:solidFill>
                  <a:srgbClr val="FFFFFF"/>
                </a:solidFill>
                <a:latin typeface="Arial"/>
              </a:defRPr>
            </a:pPr>
            <a:r>
              <a:t>стратегий в e-game</a:t>
            </a:r>
          </a:p>
        </p:txBody>
      </p:sp>
      <p:sp>
        <p:nvSpPr>
          <p:cNvPr id="5" name="TextBox 4"/>
          <p:cNvSpPr txBox="1"/>
          <p:nvPr/>
        </p:nvSpPr>
        <p:spPr>
          <a:xfrm>
            <a:off x="548640" y="3913632"/>
            <a:ext cx="10881360" cy="868680"/>
          </a:xfrm>
          <a:prstGeom prst="rect">
            <a:avLst/>
          </a:prstGeom>
          <a:noFill/>
        </p:spPr>
        <p:txBody>
          <a:bodyPr wrap="none" lIns="0" rIns="0" tIns="0" bIns="0">
            <a:spAutoFit/>
          </a:bodyPr>
          <a:lstStyle/>
          <a:p>
            <a:pPr>
              <a:lnSpc>
                <a:spcPct val="116000"/>
              </a:lnSpc>
              <a:spcBef>
                <a:spcPts val="0"/>
              </a:spcBef>
              <a:spcAft>
                <a:spcPts val="0"/>
              </a:spcAft>
              <a:defRPr sz="2500" b="0">
                <a:solidFill>
                  <a:srgbClr val="C4D5E5"/>
                </a:solidFill>
                <a:latin typeface="Arial"/>
              </a:defRPr>
            </a:pPr>
            <a:r>
              <a:t>Как устроен советчик, как обучается модель и что получает игрок</a:t>
            </a:r>
          </a:p>
        </p:txBody>
      </p:sp>
      <p:sp>
        <p:nvSpPr>
          <p:cNvPr id="6" name="TextBox 5"/>
          <p:cNvSpPr txBox="1"/>
          <p:nvPr/>
        </p:nvSpPr>
        <p:spPr>
          <a:xfrm>
            <a:off x="548640" y="5239512"/>
            <a:ext cx="10881360" cy="658368"/>
          </a:xfrm>
          <a:prstGeom prst="rect">
            <a:avLst/>
          </a:prstGeom>
          <a:noFill/>
        </p:spPr>
        <p:txBody>
          <a:bodyPr wrap="none" lIns="0" rIns="0" tIns="0" bIns="0">
            <a:spAutoFit/>
          </a:bodyPr>
          <a:lstStyle/>
          <a:p>
            <a:pPr>
              <a:lnSpc>
                <a:spcPct val="116000"/>
              </a:lnSpc>
              <a:spcBef>
                <a:spcPts val="0"/>
              </a:spcBef>
              <a:spcAft>
                <a:spcPts val="0"/>
              </a:spcAft>
              <a:defRPr sz="1700" b="0">
                <a:solidFill>
                  <a:srgbClr val="A9BACB"/>
                </a:solidFill>
                <a:latin typeface="Arial"/>
              </a:defRPr>
            </a:pPr>
            <a:r>
              <a:t>Учебная экономическая игра</a:t>
            </a:r>
          </a:p>
          <a:p>
            <a:pPr>
              <a:lnSpc>
                <a:spcPct val="116000"/>
              </a:lnSpc>
              <a:spcBef>
                <a:spcPts val="0"/>
              </a:spcBef>
              <a:spcAft>
                <a:spcPts val="0"/>
              </a:spcAft>
              <a:defRPr sz="1700" b="0">
                <a:solidFill>
                  <a:srgbClr val="A9BACB"/>
                </a:solidFill>
                <a:latin typeface="Arial"/>
              </a:defRPr>
            </a:pPr>
            <a:r>
              <a:t>Состояние проекта на 9 октября 2026 года</a:t>
            </a:r>
          </a:p>
        </p:txBody>
      </p:sp>
      <p:sp>
        <p:nvSpPr>
          <p:cNvPr id="7" name="Rectangle 6"/>
          <p:cNvSpPr/>
          <p:nvPr/>
        </p:nvSpPr>
        <p:spPr>
          <a:xfrm>
            <a:off x="548640" y="6437376"/>
            <a:ext cx="11064240" cy="10972"/>
          </a:xfrm>
          <a:prstGeom prst="rect">
            <a:avLst/>
          </a:prstGeom>
          <a:solidFill>
            <a:srgbClr val="304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A9BACB"/>
                </a:solidFill>
                <a:latin typeface="Arial"/>
              </a:defRPr>
            </a:pPr>
            <a:r>
              <a:t>e-game · агенты рекомендаций · 09.10.2026</a:t>
            </a:r>
          </a:p>
        </p:txBody>
      </p:sp>
      <p:sp>
        <p:nvSpPr>
          <p:cNvPr id="9" name="TextBox 8"/>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A9BACB"/>
                </a:solidFill>
                <a:latin typeface="Arial"/>
              </a:defRPr>
            </a:pPr>
            <a:r>
              <a:t>01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ЗАЧЕМ НУЖНЫ АГЕНТЫ</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Исходная задача преподавателя</a:t>
            </a:r>
          </a:p>
        </p:txBody>
      </p:sp>
      <p:sp>
        <p:nvSpPr>
          <p:cNvPr id="5" name="TextBox 4"/>
          <p:cNvSpPr txBox="1"/>
          <p:nvPr/>
        </p:nvSpPr>
        <p:spPr>
          <a:xfrm>
            <a:off x="548640" y="1865376"/>
            <a:ext cx="11064240" cy="704088"/>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Помочь игроку сравнить решения и понять их экономические последствия.</a:t>
            </a:r>
          </a:p>
        </p:txBody>
      </p:sp>
      <p:sp>
        <p:nvSpPr>
          <p:cNvPr id="6" name="Rounded Rectangle 5"/>
          <p:cNvSpPr/>
          <p:nvPr/>
        </p:nvSpPr>
        <p:spPr>
          <a:xfrm>
            <a:off x="548640"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Что выбирать</a:t>
            </a:r>
          </a:p>
        </p:txBody>
      </p:sp>
      <p:sp>
        <p:nvSpPr>
          <p:cNvPr id="9" name="TextBox 8"/>
          <p:cNvSpPr txBox="1"/>
          <p:nvPr/>
        </p:nvSpPr>
        <p:spPr>
          <a:xfrm>
            <a:off x="749808"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Размер партии, цену,</a:t>
            </a:r>
          </a:p>
          <a:p>
            <a:pPr>
              <a:lnSpc>
                <a:spcPct val="116000"/>
              </a:lnSpc>
              <a:spcBef>
                <a:spcPts val="0"/>
              </a:spcBef>
              <a:spcAft>
                <a:spcPts val="0"/>
              </a:spcAft>
              <a:defRPr sz="1900" b="0">
                <a:solidFill>
                  <a:srgbClr val="526579"/>
                </a:solidFill>
                <a:latin typeface="Arial"/>
              </a:defRPr>
            </a:pPr>
            <a:r>
              <a:t>качество, ассортимент и</a:t>
            </a:r>
          </a:p>
          <a:p>
            <a:pPr>
              <a:lnSpc>
                <a:spcPct val="116000"/>
              </a:lnSpc>
              <a:spcBef>
                <a:spcPts val="0"/>
              </a:spcBef>
              <a:spcAft>
                <a:spcPts val="0"/>
              </a:spcAft>
              <a:defRPr sz="1900" b="0">
                <a:solidFill>
                  <a:srgbClr val="526579"/>
                </a:solidFill>
                <a:latin typeface="Arial"/>
              </a:defRPr>
            </a:pPr>
            <a:r>
              <a:t>рекламу.</a:t>
            </a:r>
          </a:p>
        </p:txBody>
      </p:sp>
      <p:sp>
        <p:nvSpPr>
          <p:cNvPr id="10" name="Rounded Rectangle 9"/>
          <p:cNvSpPr/>
          <p:nvPr/>
        </p:nvSpPr>
        <p:spPr>
          <a:xfrm>
            <a:off x="4303775"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4943"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3"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Что учитывать</a:t>
            </a:r>
          </a:p>
        </p:txBody>
      </p:sp>
      <p:sp>
        <p:nvSpPr>
          <p:cNvPr id="13" name="TextBox 12"/>
          <p:cNvSpPr txBox="1"/>
          <p:nvPr/>
        </p:nvSpPr>
        <p:spPr>
          <a:xfrm>
            <a:off x="4504943"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Продажи, остатки,</a:t>
            </a:r>
          </a:p>
          <a:p>
            <a:pPr>
              <a:lnSpc>
                <a:spcPct val="116000"/>
              </a:lnSpc>
              <a:spcBef>
                <a:spcPts val="0"/>
              </a:spcBef>
              <a:spcAft>
                <a:spcPts val="0"/>
              </a:spcAft>
              <a:defRPr sz="1900" b="0">
                <a:solidFill>
                  <a:srgbClr val="526579"/>
                </a:solidFill>
                <a:latin typeface="Arial"/>
              </a:defRPr>
            </a:pPr>
            <a:r>
              <a:t>затраты, кредиты и</a:t>
            </a:r>
          </a:p>
          <a:p>
            <a:pPr>
              <a:lnSpc>
                <a:spcPct val="116000"/>
              </a:lnSpc>
              <a:spcBef>
                <a:spcPts val="0"/>
              </a:spcBef>
              <a:spcAft>
                <a:spcPts val="0"/>
              </a:spcAft>
              <a:defRPr sz="1900" b="0">
                <a:solidFill>
                  <a:srgbClr val="526579"/>
                </a:solidFill>
                <a:latin typeface="Arial"/>
              </a:defRPr>
            </a:pPr>
            <a:r>
              <a:t>видимые предложения</a:t>
            </a:r>
          </a:p>
          <a:p>
            <a:pPr>
              <a:lnSpc>
                <a:spcPct val="116000"/>
              </a:lnSpc>
              <a:spcBef>
                <a:spcPts val="0"/>
              </a:spcBef>
              <a:spcAft>
                <a:spcPts val="0"/>
              </a:spcAft>
              <a:defRPr sz="1900" b="0">
                <a:solidFill>
                  <a:srgbClr val="526579"/>
                </a:solidFill>
                <a:latin typeface="Arial"/>
              </a:defRPr>
            </a:pPr>
            <a:r>
              <a:t>конкурентов.</a:t>
            </a:r>
          </a:p>
        </p:txBody>
      </p:sp>
      <p:sp>
        <p:nvSpPr>
          <p:cNvPr id="14" name="Rounded Rectangle 13"/>
          <p:cNvSpPr/>
          <p:nvPr/>
        </p:nvSpPr>
        <p:spPr>
          <a:xfrm>
            <a:off x="8058911"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0080"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0080"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Что объяснять</a:t>
            </a:r>
          </a:p>
        </p:txBody>
      </p:sp>
      <p:sp>
        <p:nvSpPr>
          <p:cNvPr id="17" name="TextBox 16"/>
          <p:cNvSpPr txBox="1"/>
          <p:nvPr/>
        </p:nvSpPr>
        <p:spPr>
          <a:xfrm>
            <a:off x="8260080"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Почему выбран вариант,</a:t>
            </a:r>
          </a:p>
          <a:p>
            <a:pPr>
              <a:lnSpc>
                <a:spcPct val="116000"/>
              </a:lnSpc>
              <a:spcBef>
                <a:spcPts val="0"/>
              </a:spcBef>
              <a:spcAft>
                <a:spcPts val="0"/>
              </a:spcAft>
              <a:defRPr sz="1900" b="0">
                <a:solidFill>
                  <a:srgbClr val="526579"/>
                </a:solidFill>
                <a:latin typeface="Arial"/>
              </a:defRPr>
            </a:pPr>
            <a:r>
              <a:t>какие есть альтернативы и</a:t>
            </a:r>
          </a:p>
          <a:p>
            <a:pPr>
              <a:lnSpc>
                <a:spcPct val="116000"/>
              </a:lnSpc>
              <a:spcBef>
                <a:spcPts val="0"/>
              </a:spcBef>
              <a:spcAft>
                <a:spcPts val="0"/>
              </a:spcAft>
              <a:defRPr sz="1900" b="0">
                <a:solidFill>
                  <a:srgbClr val="526579"/>
                </a:solidFill>
                <a:latin typeface="Arial"/>
              </a:defRPr>
            </a:pPr>
            <a:r>
              <a:t>финансовые риски.</a:t>
            </a:r>
          </a:p>
        </p:txBody>
      </p:sp>
      <p:sp>
        <p:nvSpPr>
          <p:cNvPr id="18" name="Rounded Rectangle 1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Игрок принимает решение; агент предоставляет проверенный совет.</a:t>
            </a:r>
          </a:p>
        </p:txBody>
      </p:sp>
      <p:sp>
        <p:nvSpPr>
          <p:cNvPr id="20" name="Rectangle 1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2" name="TextBox 2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ЧТО ДОБАВЛЯЛОСЬ НА КАЖДОМ ЭТАПЕ</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Шесть итераций: путь развития</a:t>
            </a:r>
          </a:p>
        </p:txBody>
      </p:sp>
      <p:sp>
        <p:nvSpPr>
          <p:cNvPr id="5" name="Rounded Rectangle 4"/>
          <p:cNvSpPr/>
          <p:nvPr/>
        </p:nvSpPr>
        <p:spPr>
          <a:xfrm>
            <a:off x="548640" y="2176272"/>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59152"/>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01 · Агенты правил</a:t>
            </a:r>
          </a:p>
        </p:txBody>
      </p:sp>
      <p:sp>
        <p:nvSpPr>
          <p:cNvPr id="7" name="TextBox 6"/>
          <p:cNvSpPr txBox="1"/>
          <p:nvPr/>
        </p:nvSpPr>
        <p:spPr>
          <a:xfrm>
            <a:off x="731520" y="2779776"/>
            <a:ext cx="3200400" cy="749808"/>
          </a:xfrm>
          <a:prstGeom prst="rect">
            <a:avLst/>
          </a:prstGeom>
          <a:noFill/>
        </p:spPr>
        <p:txBody>
          <a:bodyPr wrap="none" lIns="0" rIns="0" tIns="0" bIns="0">
            <a:spAutoFit/>
          </a:bodyPr>
          <a:lstStyle/>
          <a:p>
            <a:pPr>
              <a:lnSpc>
                <a:spcPct val="116000"/>
              </a:lnSpc>
              <a:spcBef>
                <a:spcPts val="0"/>
              </a:spcBef>
              <a:spcAft>
                <a:spcPts val="0"/>
              </a:spcAft>
              <a:defRPr sz="1600" b="0">
                <a:solidFill>
                  <a:srgbClr val="526579"/>
                </a:solidFill>
                <a:latin typeface="Arial"/>
              </a:defRPr>
            </a:pPr>
            <a:r>
              <a:t>Рынок, производство, финансы;</a:t>
            </a:r>
          </a:p>
          <a:p>
            <a:pPr>
              <a:lnSpc>
                <a:spcPct val="116000"/>
              </a:lnSpc>
              <a:spcBef>
                <a:spcPts val="0"/>
              </a:spcBef>
              <a:spcAft>
                <a:spcPts val="0"/>
              </a:spcAft>
              <a:defRPr sz="1600" b="0">
                <a:solidFill>
                  <a:srgbClr val="526579"/>
                </a:solidFill>
                <a:latin typeface="Arial"/>
              </a:defRPr>
            </a:pPr>
            <a:r>
              <a:t>карточки и личный план.</a:t>
            </a:r>
          </a:p>
        </p:txBody>
      </p:sp>
      <p:sp>
        <p:nvSpPr>
          <p:cNvPr id="8" name="Rounded Rectangle 7"/>
          <p:cNvSpPr/>
          <p:nvPr/>
        </p:nvSpPr>
        <p:spPr>
          <a:xfrm>
            <a:off x="4297679" y="2176272"/>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2359152"/>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02 · Обучаемый прогноз</a:t>
            </a:r>
          </a:p>
        </p:txBody>
      </p:sp>
      <p:sp>
        <p:nvSpPr>
          <p:cNvPr id="10" name="TextBox 9"/>
          <p:cNvSpPr txBox="1"/>
          <p:nvPr/>
        </p:nvSpPr>
        <p:spPr>
          <a:xfrm>
            <a:off x="4480559" y="2779776"/>
            <a:ext cx="3200400" cy="749808"/>
          </a:xfrm>
          <a:prstGeom prst="rect">
            <a:avLst/>
          </a:prstGeom>
          <a:noFill/>
        </p:spPr>
        <p:txBody>
          <a:bodyPr wrap="none" lIns="0" rIns="0" tIns="0" bIns="0">
            <a:spAutoFit/>
          </a:bodyPr>
          <a:lstStyle/>
          <a:p>
            <a:pPr>
              <a:lnSpc>
                <a:spcPct val="116000"/>
              </a:lnSpc>
              <a:spcBef>
                <a:spcPts val="0"/>
              </a:spcBef>
              <a:spcAft>
                <a:spcPts val="0"/>
              </a:spcAft>
              <a:defRPr sz="1600" b="0">
                <a:solidFill>
                  <a:srgbClr val="526579"/>
                </a:solidFill>
                <a:latin typeface="Arial"/>
              </a:defRPr>
            </a:pPr>
            <a:r>
              <a:t>Эпизоды, модели-кандидаты,</a:t>
            </a:r>
          </a:p>
          <a:p>
            <a:pPr>
              <a:lnSpc>
                <a:spcPct val="116000"/>
              </a:lnSpc>
              <a:spcBef>
                <a:spcPts val="0"/>
              </a:spcBef>
              <a:spcAft>
                <a:spcPts val="0"/>
              </a:spcAft>
              <a:defRPr sz="1600" b="0">
                <a:solidFill>
                  <a:srgbClr val="526579"/>
                </a:solidFill>
                <a:latin typeface="Arial"/>
              </a:defRPr>
            </a:pPr>
            <a:r>
              <a:t>резервные правила, интерфейс</a:t>
            </a:r>
          </a:p>
          <a:p>
            <a:pPr>
              <a:lnSpc>
                <a:spcPct val="116000"/>
              </a:lnSpc>
              <a:spcBef>
                <a:spcPts val="0"/>
              </a:spcBef>
              <a:spcAft>
                <a:spcPts val="0"/>
              </a:spcAft>
              <a:defRPr sz="1600" b="0">
                <a:solidFill>
                  <a:srgbClr val="526579"/>
                </a:solidFill>
                <a:latin typeface="Arial"/>
              </a:defRPr>
            </a:pPr>
            <a:r>
              <a:t>LLM.</a:t>
            </a:r>
          </a:p>
        </p:txBody>
      </p:sp>
      <p:sp>
        <p:nvSpPr>
          <p:cNvPr id="11" name="Rounded Rectangle 10"/>
          <p:cNvSpPr/>
          <p:nvPr/>
        </p:nvSpPr>
        <p:spPr>
          <a:xfrm>
            <a:off x="8046719" y="2176272"/>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2359152"/>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03 · Эксперименты</a:t>
            </a:r>
          </a:p>
        </p:txBody>
      </p:sp>
      <p:sp>
        <p:nvSpPr>
          <p:cNvPr id="13" name="TextBox 12"/>
          <p:cNvSpPr txBox="1"/>
          <p:nvPr/>
        </p:nvSpPr>
        <p:spPr>
          <a:xfrm>
            <a:off x="8229599" y="2779776"/>
            <a:ext cx="3200400" cy="74980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Боты, сценарии, сбор данных и</a:t>
            </a:r>
          </a:p>
          <a:p>
            <a:pPr>
              <a:lnSpc>
                <a:spcPct val="116000"/>
              </a:lnSpc>
              <a:spcBef>
                <a:spcPts val="0"/>
              </a:spcBef>
              <a:spcAft>
                <a:spcPts val="0"/>
              </a:spcAft>
              <a:defRPr sz="1700" b="0">
                <a:solidFill>
                  <a:srgbClr val="526579"/>
                </a:solidFill>
                <a:latin typeface="Arial"/>
              </a:defRPr>
            </a:pPr>
            <a:r>
              <a:t>парная оценка стратегий.</a:t>
            </a:r>
          </a:p>
        </p:txBody>
      </p:sp>
      <p:sp>
        <p:nvSpPr>
          <p:cNvPr id="14" name="Rounded Rectangle 13"/>
          <p:cNvSpPr/>
          <p:nvPr/>
        </p:nvSpPr>
        <p:spPr>
          <a:xfrm>
            <a:off x="548640" y="3767328"/>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50208"/>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04 · Аналитика</a:t>
            </a:r>
          </a:p>
        </p:txBody>
      </p:sp>
      <p:sp>
        <p:nvSpPr>
          <p:cNvPr id="16" name="TextBox 15"/>
          <p:cNvSpPr txBox="1"/>
          <p:nvPr/>
        </p:nvSpPr>
        <p:spPr>
          <a:xfrm>
            <a:off x="731520" y="4370832"/>
            <a:ext cx="3200400" cy="74980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Журналы решений, история</a:t>
            </a:r>
          </a:p>
          <a:p>
            <a:pPr>
              <a:lnSpc>
                <a:spcPct val="116000"/>
              </a:lnSpc>
              <a:spcBef>
                <a:spcPts val="0"/>
              </a:spcBef>
              <a:spcAft>
                <a:spcPts val="0"/>
              </a:spcAft>
              <a:defRPr sz="1700" b="0">
                <a:solidFill>
                  <a:srgbClr val="526579"/>
                </a:solidFill>
                <a:latin typeface="Arial"/>
              </a:defRPr>
            </a:pPr>
            <a:r>
              <a:t>обучения, срезы и отчёты.</a:t>
            </a:r>
          </a:p>
        </p:txBody>
      </p:sp>
      <p:sp>
        <p:nvSpPr>
          <p:cNvPr id="17" name="Rounded Rectangle 16"/>
          <p:cNvSpPr/>
          <p:nvPr/>
        </p:nvSpPr>
        <p:spPr>
          <a:xfrm>
            <a:off x="4297679" y="3767328"/>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3950208"/>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05 · Разнообразие данных</a:t>
            </a:r>
          </a:p>
        </p:txBody>
      </p:sp>
      <p:sp>
        <p:nvSpPr>
          <p:cNvPr id="19" name="TextBox 18"/>
          <p:cNvSpPr txBox="1"/>
          <p:nvPr/>
        </p:nvSpPr>
        <p:spPr>
          <a:xfrm>
            <a:off x="4480559" y="4370832"/>
            <a:ext cx="3200400" cy="74980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38 политик ботов и массовые</a:t>
            </a:r>
          </a:p>
          <a:p>
            <a:pPr>
              <a:lnSpc>
                <a:spcPct val="116000"/>
              </a:lnSpc>
              <a:spcBef>
                <a:spcPts val="0"/>
              </a:spcBef>
              <a:spcAft>
                <a:spcPts val="0"/>
              </a:spcAft>
              <a:defRPr sz="1700" b="0">
                <a:solidFill>
                  <a:srgbClr val="526579"/>
                </a:solidFill>
                <a:latin typeface="Arial"/>
              </a:defRPr>
            </a:pPr>
            <a:r>
              <a:t>серии игр.</a:t>
            </a:r>
          </a:p>
        </p:txBody>
      </p:sp>
      <p:sp>
        <p:nvSpPr>
          <p:cNvPr id="20" name="Rounded Rectangle 19"/>
          <p:cNvSpPr/>
          <p:nvPr/>
        </p:nvSpPr>
        <p:spPr>
          <a:xfrm>
            <a:off x="8046719" y="3767328"/>
            <a:ext cx="3566160" cy="139903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3950208"/>
            <a:ext cx="3200400" cy="438912"/>
          </a:xfrm>
          <a:prstGeom prst="rect">
            <a:avLst/>
          </a:prstGeom>
          <a:noFill/>
        </p:spPr>
        <p:txBody>
          <a:bodyPr wrap="none" lIns="0" rIns="0" tIns="0" bIns="0">
            <a:spAutoFit/>
          </a:bodyPr>
          <a:lstStyle/>
          <a:p>
            <a:pPr>
              <a:lnSpc>
                <a:spcPct val="116000"/>
              </a:lnSpc>
              <a:spcBef>
                <a:spcPts val="0"/>
              </a:spcBef>
              <a:spcAft>
                <a:spcPts val="0"/>
              </a:spcAft>
              <a:defRPr sz="1850" b="1">
                <a:solidFill>
                  <a:srgbClr val="087F8C"/>
                </a:solidFill>
                <a:latin typeface="Arial"/>
              </a:defRPr>
            </a:pPr>
            <a:r>
              <a:t>06 · Поддержка масштаба</a:t>
            </a:r>
          </a:p>
        </p:txBody>
      </p:sp>
      <p:sp>
        <p:nvSpPr>
          <p:cNvPr id="22" name="TextBox 21"/>
          <p:cNvSpPr txBox="1"/>
          <p:nvPr/>
        </p:nvSpPr>
        <p:spPr>
          <a:xfrm>
            <a:off x="8229599" y="4370832"/>
            <a:ext cx="3200400" cy="749808"/>
          </a:xfrm>
          <a:prstGeom prst="rect">
            <a:avLst/>
          </a:prstGeom>
          <a:noFill/>
        </p:spPr>
        <p:txBody>
          <a:bodyPr wrap="none" lIns="0" rIns="0" tIns="0" bIns="0">
            <a:spAutoFit/>
          </a:bodyPr>
          <a:lstStyle/>
          <a:p>
            <a:pPr>
              <a:lnSpc>
                <a:spcPct val="116000"/>
              </a:lnSpc>
              <a:spcBef>
                <a:spcPts val="0"/>
              </a:spcBef>
              <a:spcAft>
                <a:spcPts val="0"/>
              </a:spcAft>
              <a:defRPr sz="1600" b="0">
                <a:solidFill>
                  <a:srgbClr val="526579"/>
                </a:solidFill>
                <a:latin typeface="Arial"/>
              </a:defRPr>
            </a:pPr>
            <a:r>
              <a:t>Обновление и проверка</a:t>
            </a:r>
          </a:p>
          <a:p>
            <a:pPr>
              <a:lnSpc>
                <a:spcPct val="116000"/>
              </a:lnSpc>
              <a:spcBef>
                <a:spcPts val="0"/>
              </a:spcBef>
              <a:spcAft>
                <a:spcPts val="0"/>
              </a:spcAft>
              <a:defRPr sz="1600" b="0">
                <a:solidFill>
                  <a:srgbClr val="526579"/>
                </a:solidFill>
                <a:latin typeface="Arial"/>
              </a:defRPr>
            </a:pPr>
            <a:r>
              <a:t>работоспособности</a:t>
            </a:r>
          </a:p>
          <a:p>
            <a:pPr>
              <a:lnSpc>
                <a:spcPct val="116000"/>
              </a:lnSpc>
              <a:spcBef>
                <a:spcPts val="0"/>
              </a:spcBef>
              <a:spcAft>
                <a:spcPts val="0"/>
              </a:spcAft>
              <a:defRPr sz="1600" b="0">
                <a:solidFill>
                  <a:srgbClr val="526579"/>
                </a:solidFill>
                <a:latin typeface="Arial"/>
              </a:defRPr>
            </a:pPr>
            <a:r>
              <a:t>исследовательского контура.</a:t>
            </a:r>
          </a:p>
        </p:txBody>
      </p:sp>
      <p:sp>
        <p:nvSpPr>
          <p:cNvPr id="23" name="TextBox 22"/>
          <p:cNvSpPr txBox="1"/>
          <p:nvPr/>
        </p:nvSpPr>
        <p:spPr>
          <a:xfrm>
            <a:off x="548640" y="5742432"/>
            <a:ext cx="11064240" cy="384048"/>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Итерация 6 поддерживает массовые исследования; технические детали вынесены за рамки доклада.</a:t>
            </a:r>
          </a:p>
        </p:txBody>
      </p:sp>
      <p:sp>
        <p:nvSpPr>
          <p:cNvPr id="24" name="Rectangle 23"/>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6" name="TextBox 25"/>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КАК ЧИТАТЬ ДАЛЬНЕЙШИЕ СХЕМЫ</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Агент, модель и координатор: разные роли</a:t>
            </a:r>
          </a:p>
        </p:txBody>
      </p:sp>
      <p:cxnSp>
        <p:nvCxnSpPr>
          <p:cNvPr id="5" name="Connector 4"/>
          <p:cNvCxnSpPr/>
          <p:nvPr/>
        </p:nvCxnSpPr>
        <p:spPr>
          <a:xfrm>
            <a:off x="3566160" y="3154680"/>
            <a:ext cx="914400" cy="73152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566160" y="3886200"/>
            <a:ext cx="914400" cy="82296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60920" y="3886200"/>
            <a:ext cx="8686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651760"/>
            <a:ext cx="301752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761488"/>
            <a:ext cx="276148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Три роли агентов</a:t>
            </a:r>
          </a:p>
          <a:p>
            <a:pPr>
              <a:lnSpc>
                <a:spcPct val="116000"/>
              </a:lnSpc>
              <a:spcBef>
                <a:spcPts val="0"/>
              </a:spcBef>
              <a:spcAft>
                <a:spcPts val="0"/>
              </a:spcAft>
              <a:defRPr sz="1800" b="1">
                <a:solidFill>
                  <a:srgbClr val="142438"/>
                </a:solidFill>
                <a:latin typeface="Arial"/>
              </a:defRPr>
            </a:pPr>
            <a:r>
              <a:t>рынок · выпуск · деньги</a:t>
            </a:r>
          </a:p>
        </p:txBody>
      </p:sp>
      <p:sp>
        <p:nvSpPr>
          <p:cNvPr id="10" name="Rounded Rectangle 9"/>
          <p:cNvSpPr/>
          <p:nvPr/>
        </p:nvSpPr>
        <p:spPr>
          <a:xfrm>
            <a:off x="548640" y="4251960"/>
            <a:ext cx="3017520" cy="91440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4361688"/>
            <a:ext cx="2761487"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Обученная модель</a:t>
            </a:r>
          </a:p>
          <a:p>
            <a:pPr>
              <a:lnSpc>
                <a:spcPct val="116000"/>
              </a:lnSpc>
              <a:spcBef>
                <a:spcPts val="0"/>
              </a:spcBef>
              <a:spcAft>
                <a:spcPts val="0"/>
              </a:spcAft>
              <a:defRPr sz="1800" b="1">
                <a:solidFill>
                  <a:srgbClr val="087F8C"/>
                </a:solidFill>
                <a:latin typeface="Arial"/>
              </a:defRPr>
            </a:pPr>
            <a:r>
              <a:t>прогноз продаж</a:t>
            </a:r>
          </a:p>
        </p:txBody>
      </p:sp>
      <p:sp>
        <p:nvSpPr>
          <p:cNvPr id="12" name="Rounded Rectangle 11"/>
          <p:cNvSpPr/>
          <p:nvPr/>
        </p:nvSpPr>
        <p:spPr>
          <a:xfrm>
            <a:off x="4480560" y="3429000"/>
            <a:ext cx="288036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3538728"/>
            <a:ext cx="2624328"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Координатор</a:t>
            </a:r>
          </a:p>
          <a:p>
            <a:pPr>
              <a:lnSpc>
                <a:spcPct val="116000"/>
              </a:lnSpc>
              <a:spcBef>
                <a:spcPts val="0"/>
              </a:spcBef>
              <a:spcAft>
                <a:spcPts val="0"/>
              </a:spcAft>
              <a:defRPr sz="1800" b="1">
                <a:solidFill>
                  <a:srgbClr val="142438"/>
                </a:solidFill>
                <a:latin typeface="Arial"/>
              </a:defRPr>
            </a:pPr>
            <a:r>
              <a:t>сравнение вариантов</a:t>
            </a:r>
          </a:p>
        </p:txBody>
      </p:sp>
      <p:sp>
        <p:nvSpPr>
          <p:cNvPr id="14" name="Rounded Rectangle 13"/>
          <p:cNvSpPr/>
          <p:nvPr/>
        </p:nvSpPr>
        <p:spPr>
          <a:xfrm>
            <a:off x="8229600" y="3429000"/>
            <a:ext cx="338328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6" y="3538728"/>
            <a:ext cx="3127248"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Единый совет</a:t>
            </a:r>
          </a:p>
          <a:p>
            <a:pPr>
              <a:lnSpc>
                <a:spcPct val="116000"/>
              </a:lnSpc>
              <a:spcBef>
                <a:spcPts val="0"/>
              </a:spcBef>
              <a:spcAft>
                <a:spcPts val="0"/>
              </a:spcAft>
              <a:defRPr sz="1800" b="1">
                <a:solidFill>
                  <a:srgbClr val="142438"/>
                </a:solidFill>
                <a:latin typeface="Arial"/>
              </a:defRPr>
            </a:pPr>
            <a:r>
              <a:t>карточки + причины</a:t>
            </a:r>
          </a:p>
        </p:txBody>
      </p:sp>
      <p:sp>
        <p:nvSpPr>
          <p:cNvPr id="16" name="Rounded Rectangle 15"/>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CatBoost / LightGBM / RandomForest — способы обучить прогноз, а не названия ролей агентов.</a:t>
            </a:r>
          </a:p>
        </p:txBody>
      </p:sp>
      <p:sp>
        <p:nvSpPr>
          <p:cNvPr id="18" name="Rectangle 17"/>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0" name="TextBox 19"/>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ЭСКИЗ БУДУЩЕГО ИНТЕРФЕЙСА · ПРИМЕР</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Что каждый агент предложит игроку</a:t>
            </a:r>
          </a:p>
        </p:txBody>
      </p:sp>
      <p:sp>
        <p:nvSpPr>
          <p:cNvPr id="5" name="TextBox 4"/>
          <p:cNvSpPr txBox="1"/>
          <p:nvPr/>
        </p:nvSpPr>
        <p:spPr>
          <a:xfrm>
            <a:off x="548640" y="1837943"/>
            <a:ext cx="11064240" cy="457200"/>
          </a:xfrm>
          <a:prstGeom prst="rect">
            <a:avLst/>
          </a:prstGeom>
          <a:noFill/>
        </p:spPr>
        <p:txBody>
          <a:bodyPr wrap="none" lIns="0" rIns="0" tIns="0" bIns="0">
            <a:spAutoFit/>
          </a:bodyPr>
          <a:lstStyle/>
          <a:p>
            <a:pPr>
              <a:lnSpc>
                <a:spcPct val="116000"/>
              </a:lnSpc>
              <a:spcBef>
                <a:spcPts val="0"/>
              </a:spcBef>
              <a:spcAft>
                <a:spcPts val="0"/>
              </a:spcAft>
              <a:defRPr sz="1950" b="0">
                <a:solidFill>
                  <a:srgbClr val="526579"/>
                </a:solidFill>
                <a:latin typeface="Arial"/>
              </a:defRPr>
            </a:pPr>
            <a:r>
              <a:t>Одна ситуация: продажи замедлились, товар остался на складе, скоро платёж.</a:t>
            </a:r>
          </a:p>
        </p:txBody>
      </p:sp>
      <p:sp>
        <p:nvSpPr>
          <p:cNvPr id="6" name="Rounded Rectangle 5"/>
          <p:cNvSpPr/>
          <p:nvPr/>
        </p:nvSpPr>
        <p:spPr>
          <a:xfrm>
            <a:off x="548640"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Рынок</a:t>
            </a:r>
          </a:p>
        </p:txBody>
      </p:sp>
      <p:sp>
        <p:nvSpPr>
          <p:cNvPr id="8" name="TextBox 7"/>
          <p:cNvSpPr txBox="1"/>
          <p:nvPr/>
        </p:nvSpPr>
        <p:spPr>
          <a:xfrm>
            <a:off x="713232" y="3172968"/>
            <a:ext cx="3236976" cy="1078992"/>
          </a:xfrm>
          <a:prstGeom prst="rect">
            <a:avLst/>
          </a:prstGeom>
          <a:noFill/>
        </p:spPr>
        <p:txBody>
          <a:bodyPr wrap="none" lIns="0" rIns="0" tIns="0" bIns="0">
            <a:spAutoFit/>
          </a:bodyPr>
          <a:lstStyle/>
          <a:p>
            <a:pPr>
              <a:lnSpc>
                <a:spcPct val="116000"/>
              </a:lnSpc>
              <a:spcBef>
                <a:spcPts val="0"/>
              </a:spcBef>
              <a:spcAft>
                <a:spcPts val="0"/>
              </a:spcAft>
              <a:defRPr sz="1750" b="0">
                <a:solidFill>
                  <a:srgbClr val="142438"/>
                </a:solidFill>
                <a:latin typeface="Arial"/>
              </a:defRPr>
            </a:pPr>
            <a:r>
              <a:t>Сопоставить текущую цену с</a:t>
            </a:r>
          </a:p>
          <a:p>
            <a:pPr>
              <a:lnSpc>
                <a:spcPct val="116000"/>
              </a:lnSpc>
              <a:spcBef>
                <a:spcPts val="0"/>
              </a:spcBef>
              <a:spcAft>
                <a:spcPts val="0"/>
              </a:spcAft>
              <a:defRPr sz="1750" b="0">
                <a:solidFill>
                  <a:srgbClr val="142438"/>
                </a:solidFill>
                <a:latin typeface="Arial"/>
              </a:defRPr>
            </a:pPr>
            <a:r>
              <a:t>видимыми предложениями.</a:t>
            </a:r>
          </a:p>
          <a:p>
            <a:pPr>
              <a:lnSpc>
                <a:spcPct val="116000"/>
              </a:lnSpc>
              <a:spcBef>
                <a:spcPts val="0"/>
              </a:spcBef>
              <a:spcAft>
                <a:spcPts val="0"/>
              </a:spcAft>
              <a:defRPr sz="1750" b="0">
                <a:solidFill>
                  <a:srgbClr val="142438"/>
                </a:solidFill>
                <a:latin typeface="Arial"/>
              </a:defRPr>
            </a:pPr>
            <a:r>
              <a:t>Проверить вариант более</a:t>
            </a:r>
          </a:p>
          <a:p>
            <a:pPr>
              <a:lnSpc>
                <a:spcPct val="116000"/>
              </a:lnSpc>
              <a:spcBef>
                <a:spcPts val="0"/>
              </a:spcBef>
              <a:spcAft>
                <a:spcPts val="0"/>
              </a:spcAft>
              <a:defRPr sz="1750" b="0">
                <a:solidFill>
                  <a:srgbClr val="142438"/>
                </a:solidFill>
                <a:latin typeface="Arial"/>
              </a:defRPr>
            </a:pPr>
            <a:r>
              <a:t>доступной цены.</a:t>
            </a:r>
          </a:p>
        </p:txBody>
      </p:sp>
      <p:sp>
        <p:nvSpPr>
          <p:cNvPr id="9" name="Rounded Rectangle 8"/>
          <p:cNvSpPr/>
          <p:nvPr/>
        </p:nvSpPr>
        <p:spPr>
          <a:xfrm>
            <a:off x="4297679"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1"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Производство</a:t>
            </a:r>
          </a:p>
        </p:txBody>
      </p:sp>
      <p:sp>
        <p:nvSpPr>
          <p:cNvPr id="11" name="TextBox 10"/>
          <p:cNvSpPr txBox="1"/>
          <p:nvPr/>
        </p:nvSpPr>
        <p:spPr>
          <a:xfrm>
            <a:off x="4462271" y="3172968"/>
            <a:ext cx="3236976" cy="1078992"/>
          </a:xfrm>
          <a:prstGeom prst="rect">
            <a:avLst/>
          </a:prstGeom>
          <a:noFill/>
        </p:spPr>
        <p:txBody>
          <a:bodyPr wrap="none" lIns="0" rIns="0" tIns="0" bIns="0">
            <a:spAutoFit/>
          </a:bodyPr>
          <a:lstStyle/>
          <a:p>
            <a:pPr>
              <a:lnSpc>
                <a:spcPct val="116000"/>
              </a:lnSpc>
              <a:spcBef>
                <a:spcPts val="0"/>
              </a:spcBef>
              <a:spcAft>
                <a:spcPts val="0"/>
              </a:spcAft>
              <a:defRPr sz="1800" b="0">
                <a:solidFill>
                  <a:srgbClr val="142438"/>
                </a:solidFill>
                <a:latin typeface="Arial"/>
              </a:defRPr>
            </a:pPr>
            <a:r>
              <a:t>Сравнить меньшую партию.</a:t>
            </a:r>
          </a:p>
          <a:p>
            <a:pPr>
              <a:lnSpc>
                <a:spcPct val="116000"/>
              </a:lnSpc>
              <a:spcBef>
                <a:spcPts val="0"/>
              </a:spcBef>
              <a:spcAft>
                <a:spcPts val="0"/>
              </a:spcAft>
              <a:defRPr sz="1800" b="0">
                <a:solidFill>
                  <a:srgbClr val="142438"/>
                </a:solidFill>
                <a:latin typeface="Arial"/>
              </a:defRPr>
            </a:pPr>
            <a:r>
              <a:t>Показать цикл, затраты и</a:t>
            </a:r>
          </a:p>
          <a:p>
            <a:pPr>
              <a:lnSpc>
                <a:spcPct val="116000"/>
              </a:lnSpc>
              <a:spcBef>
                <a:spcPts val="0"/>
              </a:spcBef>
              <a:spcAft>
                <a:spcPts val="0"/>
              </a:spcAft>
              <a:defRPr sz="1800" b="0">
                <a:solidFill>
                  <a:srgbClr val="142438"/>
                </a:solidFill>
                <a:latin typeface="Arial"/>
              </a:defRPr>
            </a:pPr>
            <a:r>
              <a:t>риск накопления остатка.</a:t>
            </a:r>
          </a:p>
        </p:txBody>
      </p:sp>
      <p:sp>
        <p:nvSpPr>
          <p:cNvPr id="12" name="Rounded Rectangle 11"/>
          <p:cNvSpPr/>
          <p:nvPr/>
        </p:nvSpPr>
        <p:spPr>
          <a:xfrm>
            <a:off x="8046719"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1"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Финансы</a:t>
            </a:r>
          </a:p>
        </p:txBody>
      </p:sp>
      <p:sp>
        <p:nvSpPr>
          <p:cNvPr id="14" name="TextBox 13"/>
          <p:cNvSpPr txBox="1"/>
          <p:nvPr/>
        </p:nvSpPr>
        <p:spPr>
          <a:xfrm>
            <a:off x="8211311" y="3172968"/>
            <a:ext cx="3236976" cy="1078992"/>
          </a:xfrm>
          <a:prstGeom prst="rect">
            <a:avLst/>
          </a:prstGeom>
          <a:noFill/>
        </p:spPr>
        <p:txBody>
          <a:bodyPr wrap="none" lIns="0" rIns="0" tIns="0" bIns="0">
            <a:spAutoFit/>
          </a:bodyPr>
          <a:lstStyle/>
          <a:p>
            <a:pPr>
              <a:lnSpc>
                <a:spcPct val="116000"/>
              </a:lnSpc>
              <a:spcBef>
                <a:spcPts val="0"/>
              </a:spcBef>
              <a:spcAft>
                <a:spcPts val="0"/>
              </a:spcAft>
              <a:defRPr sz="1800" b="0">
                <a:solidFill>
                  <a:srgbClr val="142438"/>
                </a:solidFill>
                <a:latin typeface="Arial"/>
              </a:defRPr>
            </a:pPr>
            <a:r>
              <a:t>Оставить деньги к платежу.</a:t>
            </a:r>
          </a:p>
          <a:p>
            <a:pPr>
              <a:lnSpc>
                <a:spcPct val="116000"/>
              </a:lnSpc>
              <a:spcBef>
                <a:spcPts val="0"/>
              </a:spcBef>
              <a:spcAft>
                <a:spcPts val="0"/>
              </a:spcAft>
              <a:defRPr sz="1800" b="0">
                <a:solidFill>
                  <a:srgbClr val="142438"/>
                </a:solidFill>
                <a:latin typeface="Arial"/>
              </a:defRPr>
            </a:pPr>
            <a:r>
              <a:t>Показать резерв и варианты</a:t>
            </a:r>
          </a:p>
          <a:p>
            <a:pPr>
              <a:lnSpc>
                <a:spcPct val="116000"/>
              </a:lnSpc>
              <a:spcBef>
                <a:spcPts val="0"/>
              </a:spcBef>
              <a:spcAft>
                <a:spcPts val="0"/>
              </a:spcAft>
              <a:defRPr sz="1800" b="0">
                <a:solidFill>
                  <a:srgbClr val="142438"/>
                </a:solidFill>
                <a:latin typeface="Arial"/>
              </a:defRPr>
            </a:pPr>
            <a:r>
              <a:t>без нового кредита.</a:t>
            </a:r>
          </a:p>
        </p:txBody>
      </p:sp>
      <p:sp>
        <p:nvSpPr>
          <p:cNvPr id="15" name="Rounded Rectangle 14"/>
          <p:cNvSpPr/>
          <p:nvPr/>
        </p:nvSpPr>
        <p:spPr>
          <a:xfrm>
            <a:off x="548640" y="4608576"/>
            <a:ext cx="11064240" cy="832104"/>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45736"/>
            <a:ext cx="10698480" cy="621792"/>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Общий совет: сравнить меньшую партию с сохранением курса и изменением цены.</a:t>
            </a:r>
          </a:p>
        </p:txBody>
      </p:sp>
      <p:sp>
        <p:nvSpPr>
          <p:cNvPr id="17" name="Rounded Rectangle 1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Сейчас игрок видит общие карточки; вклад каждого агента можно сделать явным в интерфейсе.</a:t>
            </a:r>
          </a:p>
        </p:txBody>
      </p:sp>
      <p:sp>
        <p:nvSpPr>
          <p:cNvPr id="19" name="Rectangle 1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1" name="TextBox 2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АНАЛИЗ НАБЛЮДАЕМЫХ ДАННЫХ</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Внутри рыночного агента</a:t>
            </a:r>
          </a:p>
        </p:txBody>
      </p:sp>
      <p:sp>
        <p:nvSpPr>
          <p:cNvPr id="5" name="TextBox 4"/>
          <p:cNvSpPr txBox="1"/>
          <p:nvPr/>
        </p:nvSpPr>
        <p:spPr>
          <a:xfrm>
            <a:off x="548640" y="1847088"/>
            <a:ext cx="11064240" cy="548640"/>
          </a:xfrm>
          <a:prstGeom prst="rect">
            <a:avLst/>
          </a:prstGeom>
          <a:noFill/>
        </p:spPr>
        <p:txBody>
          <a:bodyPr wrap="none" lIns="0" rIns="0" tIns="0" bIns="0">
            <a:spAutoFit/>
          </a:bodyPr>
          <a:lstStyle/>
          <a:p>
            <a:pPr>
              <a:lnSpc>
                <a:spcPct val="116000"/>
              </a:lnSpc>
              <a:spcBef>
                <a:spcPts val="0"/>
              </a:spcBef>
              <a:spcAft>
                <a:spcPts val="0"/>
              </a:spcAft>
              <a:defRPr sz="2000" b="0">
                <a:solidFill>
                  <a:srgbClr val="526579"/>
                </a:solidFill>
                <a:latin typeface="Arial"/>
              </a:defRPr>
            </a:pPr>
            <a:r>
              <a:t>Что объясняет: цену относительно рынка и основания для изменения выпуска.</a:t>
            </a:r>
          </a:p>
        </p:txBody>
      </p:sp>
      <p:cxnSp>
        <p:nvCxnSpPr>
          <p:cNvPr id="6" name="Connector 5"/>
          <p:cNvCxnSpPr/>
          <p:nvPr/>
        </p:nvCxnSpPr>
        <p:spPr>
          <a:xfrm>
            <a:off x="2834640" y="338328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943600" y="338328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686800" y="338328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880360"/>
            <a:ext cx="228600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990088"/>
            <a:ext cx="202996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Свои продажи</a:t>
            </a:r>
          </a:p>
          <a:p>
            <a:pPr>
              <a:lnSpc>
                <a:spcPct val="116000"/>
              </a:lnSpc>
              <a:spcBef>
                <a:spcPts val="0"/>
              </a:spcBef>
              <a:spcAft>
                <a:spcPts val="0"/>
              </a:spcAft>
              <a:defRPr sz="1800" b="1">
                <a:solidFill>
                  <a:srgbClr val="142438"/>
                </a:solidFill>
                <a:latin typeface="Arial"/>
              </a:defRPr>
            </a:pPr>
            <a:r>
              <a:t>видимые цены</a:t>
            </a:r>
          </a:p>
        </p:txBody>
      </p:sp>
      <p:sp>
        <p:nvSpPr>
          <p:cNvPr id="11" name="Rounded Rectangle 10"/>
          <p:cNvSpPr/>
          <p:nvPr/>
        </p:nvSpPr>
        <p:spPr>
          <a:xfrm>
            <a:off x="3474720" y="2880360"/>
            <a:ext cx="246888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2990088"/>
            <a:ext cx="221284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История продаж</a:t>
            </a:r>
          </a:p>
          <a:p>
            <a:pPr>
              <a:lnSpc>
                <a:spcPct val="116000"/>
              </a:lnSpc>
              <a:spcBef>
                <a:spcPts val="0"/>
              </a:spcBef>
              <a:spcAft>
                <a:spcPts val="0"/>
              </a:spcAft>
              <a:defRPr sz="1800" b="1">
                <a:solidFill>
                  <a:srgbClr val="142438"/>
                </a:solidFill>
                <a:latin typeface="Arial"/>
              </a:defRPr>
            </a:pPr>
            <a:r>
              <a:t>сравнение цен</a:t>
            </a:r>
          </a:p>
        </p:txBody>
      </p:sp>
      <p:sp>
        <p:nvSpPr>
          <p:cNvPr id="13" name="Rounded Rectangle 12"/>
          <p:cNvSpPr/>
          <p:nvPr/>
        </p:nvSpPr>
        <p:spPr>
          <a:xfrm>
            <a:off x="6583680" y="2880360"/>
            <a:ext cx="210312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11696" y="2990088"/>
            <a:ext cx="184708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Ориентиры</a:t>
            </a:r>
          </a:p>
          <a:p>
            <a:pPr>
              <a:lnSpc>
                <a:spcPct val="116000"/>
              </a:lnSpc>
              <a:spcBef>
                <a:spcPts val="0"/>
              </a:spcBef>
              <a:spcAft>
                <a:spcPts val="0"/>
              </a:spcAft>
              <a:defRPr sz="1800" b="1">
                <a:solidFill>
                  <a:srgbClr val="142438"/>
                </a:solidFill>
                <a:latin typeface="Arial"/>
              </a:defRPr>
            </a:pPr>
            <a:r>
              <a:t>и ограничения</a:t>
            </a:r>
          </a:p>
        </p:txBody>
      </p:sp>
      <p:sp>
        <p:nvSpPr>
          <p:cNvPr id="15" name="Rounded Rectangle 14"/>
          <p:cNvSpPr/>
          <p:nvPr/>
        </p:nvSpPr>
        <p:spPr>
          <a:xfrm>
            <a:off x="9326880" y="2880360"/>
            <a:ext cx="228600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54896" y="2990088"/>
            <a:ext cx="202996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Идеи для</a:t>
            </a:r>
          </a:p>
          <a:p>
            <a:pPr>
              <a:lnSpc>
                <a:spcPct val="116000"/>
              </a:lnSpc>
              <a:spcBef>
                <a:spcPts val="0"/>
              </a:spcBef>
              <a:spcAft>
                <a:spcPts val="0"/>
              </a:spcAft>
              <a:defRPr sz="1800" b="1">
                <a:solidFill>
                  <a:srgbClr val="142438"/>
                </a:solidFill>
                <a:latin typeface="Arial"/>
              </a:defRPr>
            </a:pPr>
            <a:r>
              <a:t>вариантов</a:t>
            </a:r>
          </a:p>
        </p:txBody>
      </p:sp>
      <p:sp>
        <p:nvSpPr>
          <p:cNvPr id="17" name="Rounded Rectangle 1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Сейчас: правила и статистика истории. Будущее уточнение: общий или отдельный ML-прогноз.</a:t>
            </a:r>
          </a:p>
        </p:txBody>
      </p:sp>
      <p:sp>
        <p:nvSpPr>
          <p:cNvPr id="19" name="Rectangle 1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1" name="TextBox 2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РАСЧЁТ ДЛЯ КАЖДОГО ВАРИАНТА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Внутри производственного агента</a:t>
            </a:r>
          </a:p>
        </p:txBody>
      </p:sp>
      <p:sp>
        <p:nvSpPr>
          <p:cNvPr id="5" name="TextBox 4"/>
          <p:cNvSpPr txBox="1"/>
          <p:nvPr/>
        </p:nvSpPr>
        <p:spPr>
          <a:xfrm>
            <a:off x="548640" y="1847088"/>
            <a:ext cx="11064240" cy="548640"/>
          </a:xfrm>
          <a:prstGeom prst="rect">
            <a:avLst/>
          </a:prstGeom>
          <a:noFill/>
        </p:spPr>
        <p:txBody>
          <a:bodyPr wrap="none" lIns="0" rIns="0" tIns="0" bIns="0">
            <a:spAutoFit/>
          </a:bodyPr>
          <a:lstStyle/>
          <a:p>
            <a:pPr>
              <a:lnSpc>
                <a:spcPct val="116000"/>
              </a:lnSpc>
              <a:spcBef>
                <a:spcPts val="0"/>
              </a:spcBef>
              <a:spcAft>
                <a:spcPts val="0"/>
              </a:spcAft>
              <a:defRPr sz="2000" b="0">
                <a:solidFill>
                  <a:srgbClr val="526579"/>
                </a:solidFill>
                <a:latin typeface="Arial"/>
              </a:defRPr>
            </a:pPr>
            <a:r>
              <a:t>Что показывает: сколько произвести, сколько это стоит и сколько длится цикл.</a:t>
            </a:r>
          </a:p>
        </p:txBody>
      </p:sp>
      <p:cxnSp>
        <p:nvCxnSpPr>
          <p:cNvPr id="6" name="Connector 5"/>
          <p:cNvCxnSpPr/>
          <p:nvPr/>
        </p:nvCxnSpPr>
        <p:spPr>
          <a:xfrm>
            <a:off x="3017520" y="338328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126480" y="338328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869680" y="3383280"/>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880360"/>
            <a:ext cx="246888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990088"/>
            <a:ext cx="221284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Параметры плана</a:t>
            </a:r>
          </a:p>
          <a:p>
            <a:pPr>
              <a:lnSpc>
                <a:spcPct val="116000"/>
              </a:lnSpc>
              <a:spcBef>
                <a:spcPts val="0"/>
              </a:spcBef>
              <a:spcAft>
                <a:spcPts val="0"/>
              </a:spcAft>
              <a:defRPr sz="1800" b="1">
                <a:solidFill>
                  <a:srgbClr val="142438"/>
                </a:solidFill>
                <a:latin typeface="Arial"/>
              </a:defRPr>
            </a:pPr>
            <a:r>
              <a:t>партия · качество</a:t>
            </a:r>
          </a:p>
        </p:txBody>
      </p:sp>
      <p:sp>
        <p:nvSpPr>
          <p:cNvPr id="11" name="Rounded Rectangle 10"/>
          <p:cNvSpPr/>
          <p:nvPr/>
        </p:nvSpPr>
        <p:spPr>
          <a:xfrm>
            <a:off x="3657600" y="2880360"/>
            <a:ext cx="246888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85615" y="2990088"/>
            <a:ext cx="221284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Формулы игры</a:t>
            </a:r>
          </a:p>
          <a:p>
            <a:pPr>
              <a:lnSpc>
                <a:spcPct val="116000"/>
              </a:lnSpc>
              <a:spcBef>
                <a:spcPts val="0"/>
              </a:spcBef>
              <a:spcAft>
                <a:spcPts val="0"/>
              </a:spcAft>
              <a:defRPr sz="1800" b="1">
                <a:solidFill>
                  <a:srgbClr val="142438"/>
                </a:solidFill>
                <a:latin typeface="Arial"/>
              </a:defRPr>
            </a:pPr>
            <a:r>
              <a:t>цикл · затраты</a:t>
            </a:r>
          </a:p>
        </p:txBody>
      </p:sp>
      <p:sp>
        <p:nvSpPr>
          <p:cNvPr id="13" name="Rounded Rectangle 12"/>
          <p:cNvSpPr/>
          <p:nvPr/>
        </p:nvSpPr>
        <p:spPr>
          <a:xfrm>
            <a:off x="6766560" y="2880360"/>
            <a:ext cx="210312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4576" y="2990088"/>
            <a:ext cx="184708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Проверка</a:t>
            </a:r>
          </a:p>
          <a:p>
            <a:pPr>
              <a:lnSpc>
                <a:spcPct val="116000"/>
              </a:lnSpc>
              <a:spcBef>
                <a:spcPts val="0"/>
              </a:spcBef>
              <a:spcAft>
                <a:spcPts val="0"/>
              </a:spcAft>
              <a:defRPr sz="1800" b="1">
                <a:solidFill>
                  <a:srgbClr val="142438"/>
                </a:solidFill>
                <a:latin typeface="Arial"/>
              </a:defRPr>
            </a:pPr>
            <a:r>
              <a:t>допустимости</a:t>
            </a:r>
          </a:p>
        </p:txBody>
      </p:sp>
      <p:sp>
        <p:nvSpPr>
          <p:cNvPr id="15" name="Rounded Rectangle 14"/>
          <p:cNvSpPr/>
          <p:nvPr/>
        </p:nvSpPr>
        <p:spPr>
          <a:xfrm>
            <a:off x="9418320" y="2880360"/>
            <a:ext cx="219456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2990088"/>
            <a:ext cx="193852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Затраты и срок</a:t>
            </a:r>
          </a:p>
          <a:p>
            <a:pPr>
              <a:lnSpc>
                <a:spcPct val="116000"/>
              </a:lnSpc>
              <a:spcBef>
                <a:spcPts val="0"/>
              </a:spcBef>
              <a:spcAft>
                <a:spcPts val="0"/>
              </a:spcAft>
              <a:defRPr sz="1800" b="1">
                <a:solidFill>
                  <a:srgbClr val="142438"/>
                </a:solidFill>
                <a:latin typeface="Arial"/>
              </a:defRPr>
            </a:pPr>
            <a:r>
              <a:t>на карточке</a:t>
            </a:r>
          </a:p>
        </p:txBody>
      </p:sp>
      <p:sp>
        <p:nvSpPr>
          <p:cNvPr id="17" name="Rounded Rectangle 1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Точные правила производства сохраняются независимо от выбора обучаемой модели.</a:t>
            </a:r>
          </a:p>
        </p:txBody>
      </p:sp>
      <p:sp>
        <p:nvSpPr>
          <p:cNvPr id="19" name="Rectangle 1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1" name="TextBox 2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РАСЧЁТ ДЕНЕГ И ПРОВЕРКА РИСКА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Внутри финансового агента</a:t>
            </a:r>
          </a:p>
        </p:txBody>
      </p:sp>
      <p:cxnSp>
        <p:nvCxnSpPr>
          <p:cNvPr id="5" name="Connector 4"/>
          <p:cNvCxnSpPr/>
          <p:nvPr/>
        </p:nvCxnSpPr>
        <p:spPr>
          <a:xfrm>
            <a:off x="3383280" y="3177540"/>
            <a:ext cx="914400" cy="758951"/>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383280" y="3936491"/>
            <a:ext cx="914400" cy="813817"/>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132320" y="3936491"/>
            <a:ext cx="96012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697480"/>
            <a:ext cx="2834640" cy="96012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807208"/>
            <a:ext cx="2578608" cy="77724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Баланс · платежи</a:t>
            </a:r>
          </a:p>
          <a:p>
            <a:pPr>
              <a:lnSpc>
                <a:spcPct val="116000"/>
              </a:lnSpc>
              <a:spcBef>
                <a:spcPts val="0"/>
              </a:spcBef>
              <a:spcAft>
                <a:spcPts val="0"/>
              </a:spcAft>
              <a:defRPr sz="1800" b="1">
                <a:solidFill>
                  <a:srgbClr val="142438"/>
                </a:solidFill>
                <a:latin typeface="Arial"/>
              </a:defRPr>
            </a:pPr>
            <a:r>
              <a:t>затраты плана</a:t>
            </a:r>
          </a:p>
        </p:txBody>
      </p:sp>
      <p:sp>
        <p:nvSpPr>
          <p:cNvPr id="10" name="Rounded Rectangle 9"/>
          <p:cNvSpPr/>
          <p:nvPr/>
        </p:nvSpPr>
        <p:spPr>
          <a:xfrm>
            <a:off x="548640" y="4270248"/>
            <a:ext cx="2834640" cy="96012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4379976"/>
            <a:ext cx="2578608" cy="777240"/>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Прогноз продаж</a:t>
            </a:r>
          </a:p>
          <a:p>
            <a:pPr>
              <a:lnSpc>
                <a:spcPct val="116000"/>
              </a:lnSpc>
              <a:spcBef>
                <a:spcPts val="0"/>
              </a:spcBef>
              <a:spcAft>
                <a:spcPts val="0"/>
              </a:spcAft>
              <a:defRPr sz="1800" b="1">
                <a:solidFill>
                  <a:srgbClr val="087F8C"/>
                </a:solidFill>
                <a:latin typeface="Arial"/>
              </a:defRPr>
            </a:pPr>
            <a:r>
              <a:t>общая ML-модель</a:t>
            </a:r>
          </a:p>
        </p:txBody>
      </p:sp>
      <p:sp>
        <p:nvSpPr>
          <p:cNvPr id="12" name="Rounded Rectangle 11"/>
          <p:cNvSpPr/>
          <p:nvPr/>
        </p:nvSpPr>
        <p:spPr>
          <a:xfrm>
            <a:off x="4297680" y="3456432"/>
            <a:ext cx="2834640" cy="96012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5696" y="3566160"/>
            <a:ext cx="2578608" cy="77724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Деньги после цикла</a:t>
            </a:r>
          </a:p>
          <a:p>
            <a:pPr>
              <a:lnSpc>
                <a:spcPct val="116000"/>
              </a:lnSpc>
              <a:spcBef>
                <a:spcPts val="0"/>
              </a:spcBef>
              <a:spcAft>
                <a:spcPts val="0"/>
              </a:spcAft>
              <a:defRPr sz="1800" b="1">
                <a:solidFill>
                  <a:srgbClr val="142438"/>
                </a:solidFill>
                <a:latin typeface="Arial"/>
              </a:defRPr>
            </a:pPr>
            <a:r>
              <a:t>резерв · риск</a:t>
            </a:r>
          </a:p>
        </p:txBody>
      </p:sp>
      <p:sp>
        <p:nvSpPr>
          <p:cNvPr id="14" name="Rounded Rectangle 13"/>
          <p:cNvSpPr/>
          <p:nvPr/>
        </p:nvSpPr>
        <p:spPr>
          <a:xfrm>
            <a:off x="8092440" y="3456432"/>
            <a:ext cx="3520440" cy="96012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0456" y="3566160"/>
            <a:ext cx="3264408" cy="77724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Допустимость</a:t>
            </a:r>
          </a:p>
          <a:p>
            <a:pPr>
              <a:lnSpc>
                <a:spcPct val="116000"/>
              </a:lnSpc>
              <a:spcBef>
                <a:spcPts val="0"/>
              </a:spcBef>
              <a:spcAft>
                <a:spcPts val="0"/>
              </a:spcAft>
              <a:defRPr sz="1800" b="1">
                <a:solidFill>
                  <a:srgbClr val="142438"/>
                </a:solidFill>
                <a:latin typeface="Arial"/>
              </a:defRPr>
            </a:pPr>
            <a:r>
              <a:t>и оценка варианта</a:t>
            </a:r>
          </a:p>
        </p:txBody>
      </p:sp>
      <p:sp>
        <p:nvSpPr>
          <p:cNvPr id="16" name="Rounded Rectangle 15"/>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ML даёт прогноз продаж; финансовые формулы переводят его в оценку денег.</a:t>
            </a:r>
          </a:p>
        </p:txBody>
      </p:sp>
      <p:sp>
        <p:nvSpPr>
          <p:cNvPr id="18" name="Rectangle 17"/>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0" name="TextBox 19"/>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ВНУТРЕННИЙ ГРАФ СОВЕТЧИКА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сейчас собирается единая рекомендация</a:t>
            </a:r>
          </a:p>
        </p:txBody>
      </p:sp>
      <p:cxnSp>
        <p:nvCxnSpPr>
          <p:cNvPr id="5" name="Connector 4"/>
          <p:cNvCxnSpPr/>
          <p:nvPr/>
        </p:nvCxnSpPr>
        <p:spPr>
          <a:xfrm>
            <a:off x="2240280" y="3131820"/>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754879" y="3131820"/>
            <a:ext cx="685801"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63840" y="3131820"/>
            <a:ext cx="7772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126980" y="3520440"/>
            <a:ext cx="0" cy="86868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863840" y="4777740"/>
            <a:ext cx="7772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754880" y="4777740"/>
            <a:ext cx="68580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240280" y="4777740"/>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2743200"/>
            <a:ext cx="169164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852928"/>
            <a:ext cx="143560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Снимок</a:t>
            </a:r>
          </a:p>
          <a:p>
            <a:pPr>
              <a:lnSpc>
                <a:spcPct val="116000"/>
              </a:lnSpc>
              <a:spcBef>
                <a:spcPts val="0"/>
              </a:spcBef>
              <a:spcAft>
                <a:spcPts val="0"/>
              </a:spcAft>
              <a:defRPr sz="1700" b="1">
                <a:solidFill>
                  <a:srgbClr val="142438"/>
                </a:solidFill>
                <a:latin typeface="Arial"/>
              </a:defRPr>
            </a:pPr>
            <a:r>
              <a:t>состояния</a:t>
            </a:r>
          </a:p>
        </p:txBody>
      </p:sp>
      <p:sp>
        <p:nvSpPr>
          <p:cNvPr id="14" name="Rounded Rectangle 13"/>
          <p:cNvSpPr/>
          <p:nvPr/>
        </p:nvSpPr>
        <p:spPr>
          <a:xfrm>
            <a:off x="2788920" y="2743200"/>
            <a:ext cx="196596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2852928"/>
            <a:ext cx="170992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Рыночный</a:t>
            </a:r>
          </a:p>
          <a:p>
            <a:pPr>
              <a:lnSpc>
                <a:spcPct val="116000"/>
              </a:lnSpc>
              <a:spcBef>
                <a:spcPts val="0"/>
              </a:spcBef>
              <a:spcAft>
                <a:spcPts val="0"/>
              </a:spcAft>
              <a:defRPr sz="1700" b="1">
                <a:solidFill>
                  <a:srgbClr val="142438"/>
                </a:solidFill>
                <a:latin typeface="Arial"/>
              </a:defRPr>
            </a:pPr>
            <a:r>
              <a:t>анализ</a:t>
            </a:r>
          </a:p>
        </p:txBody>
      </p:sp>
      <p:sp>
        <p:nvSpPr>
          <p:cNvPr id="16" name="Rounded Rectangle 15"/>
          <p:cNvSpPr/>
          <p:nvPr/>
        </p:nvSpPr>
        <p:spPr>
          <a:xfrm>
            <a:off x="5440680" y="2743200"/>
            <a:ext cx="242316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68696" y="2852928"/>
            <a:ext cx="216712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Координатор</a:t>
            </a:r>
          </a:p>
          <a:p>
            <a:pPr>
              <a:lnSpc>
                <a:spcPct val="116000"/>
              </a:lnSpc>
              <a:spcBef>
                <a:spcPts val="0"/>
              </a:spcBef>
              <a:spcAft>
                <a:spcPts val="0"/>
              </a:spcAft>
              <a:defRPr sz="1700" b="1">
                <a:solidFill>
                  <a:srgbClr val="142438"/>
                </a:solidFill>
                <a:latin typeface="Arial"/>
              </a:defRPr>
            </a:pPr>
            <a:r>
              <a:t>варианты планов</a:t>
            </a:r>
          </a:p>
        </p:txBody>
      </p:sp>
      <p:sp>
        <p:nvSpPr>
          <p:cNvPr id="18" name="Rounded Rectangle 17"/>
          <p:cNvSpPr/>
          <p:nvPr/>
        </p:nvSpPr>
        <p:spPr>
          <a:xfrm>
            <a:off x="8641080" y="2743200"/>
            <a:ext cx="297180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69096" y="2852928"/>
            <a:ext cx="27157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Выпуск + финансы</a:t>
            </a:r>
          </a:p>
          <a:p>
            <a:pPr>
              <a:lnSpc>
                <a:spcPct val="116000"/>
              </a:lnSpc>
              <a:spcBef>
                <a:spcPts val="0"/>
              </a:spcBef>
              <a:spcAft>
                <a:spcPts val="0"/>
              </a:spcAft>
              <a:defRPr sz="1700" b="1">
                <a:solidFill>
                  <a:srgbClr val="142438"/>
                </a:solidFill>
                <a:latin typeface="Arial"/>
              </a:defRPr>
            </a:pPr>
            <a:r>
              <a:t>проверка вариантов</a:t>
            </a:r>
          </a:p>
        </p:txBody>
      </p:sp>
      <p:sp>
        <p:nvSpPr>
          <p:cNvPr id="20" name="Rounded Rectangle 19"/>
          <p:cNvSpPr/>
          <p:nvPr/>
        </p:nvSpPr>
        <p:spPr>
          <a:xfrm>
            <a:off x="8641080" y="4389120"/>
            <a:ext cx="2971800" cy="77724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9096" y="4498848"/>
            <a:ext cx="27157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Общая ML-модель</a:t>
            </a:r>
          </a:p>
          <a:p>
            <a:pPr>
              <a:lnSpc>
                <a:spcPct val="116000"/>
              </a:lnSpc>
              <a:spcBef>
                <a:spcPts val="0"/>
              </a:spcBef>
              <a:spcAft>
                <a:spcPts val="0"/>
              </a:spcAft>
              <a:defRPr sz="1700" b="1">
                <a:solidFill>
                  <a:srgbClr val="087F8C"/>
                </a:solidFill>
                <a:latin typeface="Arial"/>
              </a:defRPr>
            </a:pPr>
            <a:r>
              <a:t>продажи по планам</a:t>
            </a:r>
          </a:p>
        </p:txBody>
      </p:sp>
      <p:sp>
        <p:nvSpPr>
          <p:cNvPr id="22" name="Rounded Rectangle 21"/>
          <p:cNvSpPr/>
          <p:nvPr/>
        </p:nvSpPr>
        <p:spPr>
          <a:xfrm>
            <a:off x="5440680" y="4389120"/>
            <a:ext cx="242316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8696" y="4498848"/>
            <a:ext cx="216712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Финансовый агент</a:t>
            </a:r>
          </a:p>
          <a:p>
            <a:pPr>
              <a:lnSpc>
                <a:spcPct val="116000"/>
              </a:lnSpc>
              <a:spcBef>
                <a:spcPts val="0"/>
              </a:spcBef>
              <a:spcAft>
                <a:spcPts val="0"/>
              </a:spcAft>
              <a:defRPr sz="1700" b="1">
                <a:solidFill>
                  <a:srgbClr val="142438"/>
                </a:solidFill>
                <a:latin typeface="Arial"/>
              </a:defRPr>
            </a:pPr>
            <a:r>
              <a:t>пересчёт денег</a:t>
            </a:r>
          </a:p>
        </p:txBody>
      </p:sp>
      <p:sp>
        <p:nvSpPr>
          <p:cNvPr id="24" name="Rounded Rectangle 23"/>
          <p:cNvSpPr/>
          <p:nvPr/>
        </p:nvSpPr>
        <p:spPr>
          <a:xfrm>
            <a:off x="2788920" y="4389120"/>
            <a:ext cx="196596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16936" y="4498848"/>
            <a:ext cx="170992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Координатор</a:t>
            </a:r>
          </a:p>
          <a:p>
            <a:pPr>
              <a:lnSpc>
                <a:spcPct val="116000"/>
              </a:lnSpc>
              <a:spcBef>
                <a:spcPts val="0"/>
              </a:spcBef>
              <a:spcAft>
                <a:spcPts val="0"/>
              </a:spcAft>
              <a:defRPr sz="1700" b="1">
                <a:solidFill>
                  <a:srgbClr val="142438"/>
                </a:solidFill>
                <a:latin typeface="Arial"/>
              </a:defRPr>
            </a:pPr>
            <a:r>
              <a:t>сравнение</a:t>
            </a:r>
          </a:p>
        </p:txBody>
      </p:sp>
      <p:sp>
        <p:nvSpPr>
          <p:cNvPr id="26" name="Rounded Rectangle 25"/>
          <p:cNvSpPr/>
          <p:nvPr/>
        </p:nvSpPr>
        <p:spPr>
          <a:xfrm>
            <a:off x="548640" y="4389120"/>
            <a:ext cx="169164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4498848"/>
            <a:ext cx="143560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Карточки</a:t>
            </a:r>
          </a:p>
          <a:p>
            <a:pPr>
              <a:lnSpc>
                <a:spcPct val="116000"/>
              </a:lnSpc>
              <a:spcBef>
                <a:spcPts val="0"/>
              </a:spcBef>
              <a:spcAft>
                <a:spcPts val="0"/>
              </a:spcAft>
              <a:defRPr sz="1700" b="1">
                <a:solidFill>
                  <a:srgbClr val="142438"/>
                </a:solidFill>
                <a:latin typeface="Arial"/>
              </a:defRPr>
            </a:pPr>
            <a:r>
              <a:t>игроку</a:t>
            </a:r>
          </a:p>
        </p:txBody>
      </p:sp>
      <p:sp>
        <p:nvSpPr>
          <p:cNvPr id="28" name="Rounded Rectangle 2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Одна модель оценивает несколько планов; агенты совместно проверяют и сравнивают их.</a:t>
            </a:r>
          </a:p>
        </p:txBody>
      </p:sp>
      <p:sp>
        <p:nvSpPr>
          <p:cNvPr id="30" name="Rectangle 2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2" name="TextBox 3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09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УСЛОВНЫЕ ЧИСЛА · НЕ РЕЗУЛЬТАТ ЭКСПЕРИМЕНТА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Пример: прогноз превращается в совет</a:t>
            </a:r>
          </a:p>
        </p:txBody>
      </p:sp>
      <p:sp>
        <p:nvSpPr>
          <p:cNvPr id="5" name="TextBox 4"/>
          <p:cNvSpPr txBox="1"/>
          <p:nvPr/>
        </p:nvSpPr>
        <p:spPr>
          <a:xfrm>
            <a:off x="548640" y="1837943"/>
            <a:ext cx="11064240" cy="521207"/>
          </a:xfrm>
          <a:prstGeom prst="rect">
            <a:avLst/>
          </a:prstGeom>
          <a:noFill/>
        </p:spPr>
        <p:txBody>
          <a:bodyPr wrap="none" lIns="0" rIns="0" tIns="0" bIns="0">
            <a:spAutoFit/>
          </a:bodyPr>
          <a:lstStyle/>
          <a:p>
            <a:pPr>
              <a:lnSpc>
                <a:spcPct val="116000"/>
              </a:lnSpc>
              <a:spcBef>
                <a:spcPts val="0"/>
              </a:spcBef>
              <a:spcAft>
                <a:spcPts val="0"/>
              </a:spcAft>
              <a:defRPr sz="1950" b="0">
                <a:solidFill>
                  <a:srgbClr val="526579"/>
                </a:solidFill>
                <a:latin typeface="Arial"/>
              </a:defRPr>
            </a:pPr>
            <a:r>
              <a:t>Общая модель оценивает продажи; расчёт затрат и платежей определяет выгодный вариант.</a:t>
            </a:r>
          </a:p>
        </p:txBody>
      </p:sp>
      <p:sp>
        <p:nvSpPr>
          <p:cNvPr id="6" name="Rectangle 5"/>
          <p:cNvSpPr/>
          <p:nvPr/>
        </p:nvSpPr>
        <p:spPr>
          <a:xfrm>
            <a:off x="548640" y="2560320"/>
            <a:ext cx="11064240" cy="5303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670048"/>
            <a:ext cx="303580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План</a:t>
            </a:r>
          </a:p>
        </p:txBody>
      </p:sp>
      <p:sp>
        <p:nvSpPr>
          <p:cNvPr id="8" name="TextBox 7"/>
          <p:cNvSpPr txBox="1"/>
          <p:nvPr/>
        </p:nvSpPr>
        <p:spPr>
          <a:xfrm>
            <a:off x="3986784" y="2670048"/>
            <a:ext cx="175564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Продажи ML</a:t>
            </a:r>
          </a:p>
        </p:txBody>
      </p:sp>
      <p:sp>
        <p:nvSpPr>
          <p:cNvPr id="9" name="TextBox 8"/>
          <p:cNvSpPr txBox="1"/>
          <p:nvPr/>
        </p:nvSpPr>
        <p:spPr>
          <a:xfrm>
            <a:off x="5998464" y="2670048"/>
            <a:ext cx="175564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Затраты</a:t>
            </a:r>
          </a:p>
        </p:txBody>
      </p:sp>
      <p:sp>
        <p:nvSpPr>
          <p:cNvPr id="10" name="TextBox 9"/>
          <p:cNvSpPr txBox="1"/>
          <p:nvPr/>
        </p:nvSpPr>
        <p:spPr>
          <a:xfrm>
            <a:off x="8010144" y="2670048"/>
            <a:ext cx="3493007"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Деньги после цикла</a:t>
            </a:r>
          </a:p>
        </p:txBody>
      </p:sp>
      <p:sp>
        <p:nvSpPr>
          <p:cNvPr id="11" name="Rectangle 10"/>
          <p:cNvSpPr/>
          <p:nvPr/>
        </p:nvSpPr>
        <p:spPr>
          <a:xfrm>
            <a:off x="548640" y="3090672"/>
            <a:ext cx="11064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200400"/>
            <a:ext cx="30358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A · партия 100</a:t>
            </a:r>
          </a:p>
        </p:txBody>
      </p:sp>
      <p:sp>
        <p:nvSpPr>
          <p:cNvPr id="13" name="TextBox 12"/>
          <p:cNvSpPr txBox="1"/>
          <p:nvPr/>
        </p:nvSpPr>
        <p:spPr>
          <a:xfrm>
            <a:off x="3986784" y="3200400"/>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40 × цена 10</a:t>
            </a:r>
          </a:p>
        </p:txBody>
      </p:sp>
      <p:sp>
        <p:nvSpPr>
          <p:cNvPr id="14" name="TextBox 13"/>
          <p:cNvSpPr txBox="1"/>
          <p:nvPr/>
        </p:nvSpPr>
        <p:spPr>
          <a:xfrm>
            <a:off x="5998464" y="3200400"/>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300</a:t>
            </a:r>
          </a:p>
        </p:txBody>
      </p:sp>
      <p:sp>
        <p:nvSpPr>
          <p:cNvPr id="15" name="TextBox 14"/>
          <p:cNvSpPr txBox="1"/>
          <p:nvPr/>
        </p:nvSpPr>
        <p:spPr>
          <a:xfrm>
            <a:off x="8010144" y="3200400"/>
            <a:ext cx="3493007"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550</a:t>
            </a:r>
          </a:p>
        </p:txBody>
      </p:sp>
      <p:sp>
        <p:nvSpPr>
          <p:cNvPr id="16" name="Rectangle 15"/>
          <p:cNvSpPr/>
          <p:nvPr/>
        </p:nvSpPr>
        <p:spPr>
          <a:xfrm>
            <a:off x="548640" y="3621024"/>
            <a:ext cx="11064240" cy="530352"/>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730752"/>
            <a:ext cx="30358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B · партия 80</a:t>
            </a:r>
          </a:p>
        </p:txBody>
      </p:sp>
      <p:sp>
        <p:nvSpPr>
          <p:cNvPr id="18" name="TextBox 17"/>
          <p:cNvSpPr txBox="1"/>
          <p:nvPr/>
        </p:nvSpPr>
        <p:spPr>
          <a:xfrm>
            <a:off x="3986784" y="3730752"/>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38 × цена 10</a:t>
            </a:r>
          </a:p>
        </p:txBody>
      </p:sp>
      <p:sp>
        <p:nvSpPr>
          <p:cNvPr id="19" name="TextBox 18"/>
          <p:cNvSpPr txBox="1"/>
          <p:nvPr/>
        </p:nvSpPr>
        <p:spPr>
          <a:xfrm>
            <a:off x="5998464" y="3730752"/>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240</a:t>
            </a:r>
          </a:p>
        </p:txBody>
      </p:sp>
      <p:sp>
        <p:nvSpPr>
          <p:cNvPr id="20" name="TextBox 19"/>
          <p:cNvSpPr txBox="1"/>
          <p:nvPr/>
        </p:nvSpPr>
        <p:spPr>
          <a:xfrm>
            <a:off x="8010144" y="3730752"/>
            <a:ext cx="3493007"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590</a:t>
            </a:r>
          </a:p>
        </p:txBody>
      </p:sp>
      <p:sp>
        <p:nvSpPr>
          <p:cNvPr id="21" name="Rectangle 20"/>
          <p:cNvSpPr/>
          <p:nvPr/>
        </p:nvSpPr>
        <p:spPr>
          <a:xfrm>
            <a:off x="548640" y="4151375"/>
            <a:ext cx="11064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4261103"/>
            <a:ext cx="30358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C · цена ниже</a:t>
            </a:r>
          </a:p>
        </p:txBody>
      </p:sp>
      <p:sp>
        <p:nvSpPr>
          <p:cNvPr id="23" name="TextBox 22"/>
          <p:cNvSpPr txBox="1"/>
          <p:nvPr/>
        </p:nvSpPr>
        <p:spPr>
          <a:xfrm>
            <a:off x="3986784" y="4261103"/>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47 × цена 9</a:t>
            </a:r>
          </a:p>
        </p:txBody>
      </p:sp>
      <p:sp>
        <p:nvSpPr>
          <p:cNvPr id="24" name="TextBox 23"/>
          <p:cNvSpPr txBox="1"/>
          <p:nvPr/>
        </p:nvSpPr>
        <p:spPr>
          <a:xfrm>
            <a:off x="5998464" y="4261103"/>
            <a:ext cx="175564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300</a:t>
            </a:r>
          </a:p>
        </p:txBody>
      </p:sp>
      <p:sp>
        <p:nvSpPr>
          <p:cNvPr id="25" name="TextBox 24"/>
          <p:cNvSpPr txBox="1"/>
          <p:nvPr/>
        </p:nvSpPr>
        <p:spPr>
          <a:xfrm>
            <a:off x="8010144" y="4261103"/>
            <a:ext cx="3493007"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573</a:t>
            </a:r>
          </a:p>
        </p:txBody>
      </p:sp>
      <p:sp>
        <p:nvSpPr>
          <p:cNvPr id="26" name="TextBox 25"/>
          <p:cNvSpPr txBox="1"/>
          <p:nvPr/>
        </p:nvSpPr>
        <p:spPr>
          <a:xfrm>
            <a:off x="548640" y="5038344"/>
            <a:ext cx="11064240" cy="448056"/>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В этом примере B сохраняет больше денег, хотя C прогнозирует больше продаж.</a:t>
            </a:r>
          </a:p>
        </p:txBody>
      </p:sp>
      <p:sp>
        <p:nvSpPr>
          <p:cNvPr id="27" name="Rounded Rectangle 2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00" b="1">
                <a:solidFill>
                  <a:srgbClr val="087F8C"/>
                </a:solidFill>
                <a:latin typeface="Arial"/>
              </a:defRPr>
            </a:pPr>
            <a:r>
              <a:t>Совет зависит от продаж, затрат и платежей вместе. Прогноз продаж сам по себе не равен стратегии.</a:t>
            </a:r>
          </a:p>
        </p:txBody>
      </p:sp>
      <p:sp>
        <p:nvSpPr>
          <p:cNvPr id="29" name="Rectangle 2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1" name="TextBox 3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ДВА РАЗНЫХ ПРОЦЕССА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Обучение модели и выдача совета разделены</a:t>
            </a:r>
          </a:p>
        </p:txBody>
      </p:sp>
      <p:sp>
        <p:nvSpPr>
          <p:cNvPr id="5" name="TextBox 4"/>
          <p:cNvSpPr txBox="1"/>
          <p:nvPr/>
        </p:nvSpPr>
        <p:spPr>
          <a:xfrm>
            <a:off x="548640" y="2267712"/>
            <a:ext cx="11064240" cy="292608"/>
          </a:xfrm>
          <a:prstGeom prst="rect">
            <a:avLst/>
          </a:prstGeom>
          <a:noFill/>
        </p:spPr>
        <p:txBody>
          <a:bodyPr wrap="none" lIns="0" rIns="0" tIns="0" bIns="0">
            <a:spAutoFit/>
          </a:bodyPr>
          <a:lstStyle/>
          <a:p>
            <a:pPr>
              <a:lnSpc>
                <a:spcPct val="116000"/>
              </a:lnSpc>
              <a:spcBef>
                <a:spcPts val="0"/>
              </a:spcBef>
              <a:spcAft>
                <a:spcPts val="0"/>
              </a:spcAft>
              <a:defRPr sz="1200" b="1">
                <a:solidFill>
                  <a:srgbClr val="087F8C"/>
                </a:solidFill>
                <a:latin typeface="Arial"/>
              </a:defRPr>
            </a:pPr>
            <a:r>
              <a:t>ОБУЧЕНИЕ · ОТДЕЛЬНЫЙ ЗАПУСК</a:t>
            </a:r>
          </a:p>
        </p:txBody>
      </p:sp>
      <p:sp>
        <p:nvSpPr>
          <p:cNvPr id="6" name="Rounded Rectangle 5"/>
          <p:cNvSpPr/>
          <p:nvPr/>
        </p:nvSpPr>
        <p:spPr>
          <a:xfrm>
            <a:off x="548640"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Завершённые</a:t>
            </a:r>
          </a:p>
          <a:p>
            <a:pPr>
              <a:lnSpc>
                <a:spcPct val="116000"/>
              </a:lnSpc>
              <a:spcBef>
                <a:spcPts val="0"/>
              </a:spcBef>
              <a:spcAft>
                <a:spcPts val="0"/>
              </a:spcAft>
              <a:defRPr sz="1800" b="1">
                <a:solidFill>
                  <a:srgbClr val="142438"/>
                </a:solidFill>
                <a:latin typeface="Arial"/>
              </a:defRPr>
            </a:pPr>
            <a:r>
              <a:t>игры</a:t>
            </a:r>
          </a:p>
        </p:txBody>
      </p:sp>
      <p:sp>
        <p:nvSpPr>
          <p:cNvPr id="8" name="TextBox 7"/>
          <p:cNvSpPr txBox="1"/>
          <p:nvPr/>
        </p:nvSpPr>
        <p:spPr>
          <a:xfrm>
            <a:off x="3118104"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9" name="Rounded Rectangle 8"/>
          <p:cNvSpPr/>
          <p:nvPr/>
        </p:nvSpPr>
        <p:spPr>
          <a:xfrm>
            <a:off x="3401568"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7016"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Учебные</a:t>
            </a:r>
          </a:p>
          <a:p>
            <a:pPr>
              <a:lnSpc>
                <a:spcPct val="116000"/>
              </a:lnSpc>
              <a:spcBef>
                <a:spcPts val="0"/>
              </a:spcBef>
              <a:spcAft>
                <a:spcPts val="0"/>
              </a:spcAft>
              <a:defRPr sz="1800" b="1">
                <a:solidFill>
                  <a:srgbClr val="142438"/>
                </a:solidFill>
                <a:latin typeface="Arial"/>
              </a:defRPr>
            </a:pPr>
            <a:r>
              <a:t>эпизоды</a:t>
            </a:r>
          </a:p>
        </p:txBody>
      </p:sp>
      <p:sp>
        <p:nvSpPr>
          <p:cNvPr id="11" name="TextBox 10"/>
          <p:cNvSpPr txBox="1"/>
          <p:nvPr/>
        </p:nvSpPr>
        <p:spPr>
          <a:xfrm>
            <a:off x="5971032"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12" name="Rounded Rectangle 11"/>
          <p:cNvSpPr/>
          <p:nvPr/>
        </p:nvSpPr>
        <p:spPr>
          <a:xfrm>
            <a:off x="6254496"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Обучение</a:t>
            </a:r>
          </a:p>
          <a:p>
            <a:pPr>
              <a:lnSpc>
                <a:spcPct val="116000"/>
              </a:lnSpc>
              <a:spcBef>
                <a:spcPts val="0"/>
              </a:spcBef>
              <a:spcAft>
                <a:spcPts val="0"/>
              </a:spcAft>
              <a:defRPr sz="1800" b="1">
                <a:solidFill>
                  <a:srgbClr val="142438"/>
                </a:solidFill>
                <a:latin typeface="Arial"/>
              </a:defRPr>
            </a:pPr>
            <a:r>
              <a:t>алгоритма</a:t>
            </a:r>
          </a:p>
        </p:txBody>
      </p:sp>
      <p:sp>
        <p:nvSpPr>
          <p:cNvPr id="14" name="TextBox 13"/>
          <p:cNvSpPr txBox="1"/>
          <p:nvPr/>
        </p:nvSpPr>
        <p:spPr>
          <a:xfrm>
            <a:off x="8823960"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15" name="Rounded Rectangle 14"/>
          <p:cNvSpPr/>
          <p:nvPr/>
        </p:nvSpPr>
        <p:spPr>
          <a:xfrm>
            <a:off x="9107424"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2872"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Версия модели</a:t>
            </a:r>
          </a:p>
          <a:p>
            <a:pPr>
              <a:lnSpc>
                <a:spcPct val="116000"/>
              </a:lnSpc>
              <a:spcBef>
                <a:spcPts val="0"/>
              </a:spcBef>
              <a:spcAft>
                <a:spcPts val="0"/>
              </a:spcAft>
              <a:defRPr sz="1800" b="1">
                <a:solidFill>
                  <a:srgbClr val="142438"/>
                </a:solidFill>
                <a:latin typeface="Arial"/>
              </a:defRPr>
            </a:pPr>
            <a:r>
              <a:t>в хранилище</a:t>
            </a:r>
          </a:p>
        </p:txBody>
      </p:sp>
      <p:sp>
        <p:nvSpPr>
          <p:cNvPr id="17" name="TextBox 16"/>
          <p:cNvSpPr txBox="1"/>
          <p:nvPr/>
        </p:nvSpPr>
        <p:spPr>
          <a:xfrm>
            <a:off x="548640" y="3621024"/>
            <a:ext cx="11064240" cy="292608"/>
          </a:xfrm>
          <a:prstGeom prst="rect">
            <a:avLst/>
          </a:prstGeom>
          <a:noFill/>
        </p:spPr>
        <p:txBody>
          <a:bodyPr wrap="none" lIns="0" rIns="0" tIns="0" bIns="0">
            <a:spAutoFit/>
          </a:bodyPr>
          <a:lstStyle/>
          <a:p>
            <a:pPr>
              <a:lnSpc>
                <a:spcPct val="116000"/>
              </a:lnSpc>
              <a:spcBef>
                <a:spcPts val="0"/>
              </a:spcBef>
              <a:spcAft>
                <a:spcPts val="0"/>
              </a:spcAft>
              <a:defRPr sz="1200" b="1">
                <a:solidFill>
                  <a:srgbClr val="087F8C"/>
                </a:solidFill>
                <a:latin typeface="Arial"/>
              </a:defRPr>
            </a:pPr>
            <a:r>
              <a:t>ВЫДАЧА СОВЕТА · ЗАПРОС ИГРОКА</a:t>
            </a:r>
          </a:p>
        </p:txBody>
      </p:sp>
      <p:sp>
        <p:nvSpPr>
          <p:cNvPr id="18" name="Rounded Rectangle 17"/>
          <p:cNvSpPr/>
          <p:nvPr/>
        </p:nvSpPr>
        <p:spPr>
          <a:xfrm>
            <a:off x="548640" y="4059935"/>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206240"/>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Текущее</a:t>
            </a:r>
          </a:p>
          <a:p>
            <a:pPr>
              <a:lnSpc>
                <a:spcPct val="116000"/>
              </a:lnSpc>
              <a:spcBef>
                <a:spcPts val="0"/>
              </a:spcBef>
              <a:spcAft>
                <a:spcPts val="0"/>
              </a:spcAft>
              <a:defRPr sz="1800" b="1">
                <a:solidFill>
                  <a:srgbClr val="142438"/>
                </a:solidFill>
                <a:latin typeface="Arial"/>
              </a:defRPr>
            </a:pPr>
            <a:r>
              <a:t>состояние</a:t>
            </a:r>
          </a:p>
        </p:txBody>
      </p:sp>
      <p:sp>
        <p:nvSpPr>
          <p:cNvPr id="20" name="TextBox 19"/>
          <p:cNvSpPr txBox="1"/>
          <p:nvPr/>
        </p:nvSpPr>
        <p:spPr>
          <a:xfrm>
            <a:off x="3118104" y="4352544"/>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21" name="Rounded Rectangle 20"/>
          <p:cNvSpPr/>
          <p:nvPr/>
        </p:nvSpPr>
        <p:spPr>
          <a:xfrm>
            <a:off x="3401568" y="4059935"/>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57016" y="4206240"/>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Допустимые</a:t>
            </a:r>
          </a:p>
          <a:p>
            <a:pPr>
              <a:lnSpc>
                <a:spcPct val="116000"/>
              </a:lnSpc>
              <a:spcBef>
                <a:spcPts val="0"/>
              </a:spcBef>
              <a:spcAft>
                <a:spcPts val="0"/>
              </a:spcAft>
              <a:defRPr sz="1800" b="1">
                <a:solidFill>
                  <a:srgbClr val="142438"/>
                </a:solidFill>
                <a:latin typeface="Arial"/>
              </a:defRPr>
            </a:pPr>
            <a:r>
              <a:t>планы</a:t>
            </a:r>
          </a:p>
        </p:txBody>
      </p:sp>
      <p:sp>
        <p:nvSpPr>
          <p:cNvPr id="23" name="TextBox 22"/>
          <p:cNvSpPr txBox="1"/>
          <p:nvPr/>
        </p:nvSpPr>
        <p:spPr>
          <a:xfrm>
            <a:off x="5971032" y="4352544"/>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24" name="Rounded Rectangle 23"/>
          <p:cNvSpPr/>
          <p:nvPr/>
        </p:nvSpPr>
        <p:spPr>
          <a:xfrm>
            <a:off x="6254496" y="4059935"/>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9944" y="4206240"/>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Готовая модель</a:t>
            </a:r>
          </a:p>
          <a:p>
            <a:pPr>
              <a:lnSpc>
                <a:spcPct val="116000"/>
              </a:lnSpc>
              <a:spcBef>
                <a:spcPts val="0"/>
              </a:spcBef>
              <a:spcAft>
                <a:spcPts val="0"/>
              </a:spcAft>
              <a:defRPr sz="1800" b="1">
                <a:solidFill>
                  <a:srgbClr val="142438"/>
                </a:solidFill>
                <a:latin typeface="Arial"/>
              </a:defRPr>
            </a:pPr>
            <a:r>
              <a:t>прогнозирует</a:t>
            </a:r>
          </a:p>
        </p:txBody>
      </p:sp>
      <p:sp>
        <p:nvSpPr>
          <p:cNvPr id="26" name="TextBox 25"/>
          <p:cNvSpPr txBox="1"/>
          <p:nvPr/>
        </p:nvSpPr>
        <p:spPr>
          <a:xfrm>
            <a:off x="8823960" y="4352544"/>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27" name="Rounded Rectangle 26"/>
          <p:cNvSpPr/>
          <p:nvPr/>
        </p:nvSpPr>
        <p:spPr>
          <a:xfrm>
            <a:off x="9107424" y="4059935"/>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4206240"/>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Агенты</a:t>
            </a:r>
          </a:p>
          <a:p>
            <a:pPr>
              <a:lnSpc>
                <a:spcPct val="116000"/>
              </a:lnSpc>
              <a:spcBef>
                <a:spcPts val="0"/>
              </a:spcBef>
              <a:spcAft>
                <a:spcPts val="0"/>
              </a:spcAft>
              <a:defRPr sz="1800" b="1">
                <a:solidFill>
                  <a:srgbClr val="142438"/>
                </a:solidFill>
                <a:latin typeface="Arial"/>
              </a:defRPr>
            </a:pPr>
            <a:r>
              <a:t>сравнивают</a:t>
            </a:r>
          </a:p>
        </p:txBody>
      </p:sp>
      <p:sp>
        <p:nvSpPr>
          <p:cNvPr id="29" name="Rounded Rectangle 28"/>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Обученный CatBoost может обслуживать много запросов без повторного обучения.</a:t>
            </a:r>
          </a:p>
        </p:txBody>
      </p:sp>
      <p:sp>
        <p:nvSpPr>
          <p:cNvPr id="31" name="Rectangle 30"/>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3" name="TextBox 32"/>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РАЗНООБРАЗИЕ УЧЕБНЫХ РЕШЕНИЙ</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Итерация 5 · 38 политик поведения ботов</a:t>
            </a:r>
          </a:p>
        </p:txBody>
      </p:sp>
      <p:sp>
        <p:nvSpPr>
          <p:cNvPr id="5" name="TextBox 4"/>
          <p:cNvSpPr txBox="1"/>
          <p:nvPr/>
        </p:nvSpPr>
        <p:spPr>
          <a:xfrm>
            <a:off x="548640" y="1865376"/>
            <a:ext cx="11064240" cy="704088"/>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Политики используют доступное состояние и собственную историю; назначения</a:t>
            </a:r>
          </a:p>
          <a:p>
            <a:pPr>
              <a:lnSpc>
                <a:spcPct val="116000"/>
              </a:lnSpc>
              <a:spcBef>
                <a:spcPts val="0"/>
              </a:spcBef>
              <a:spcAft>
                <a:spcPts val="0"/>
              </a:spcAft>
              <a:defRPr sz="2200" b="0">
                <a:solidFill>
                  <a:srgbClr val="526579"/>
                </a:solidFill>
                <a:latin typeface="Arial"/>
              </a:defRPr>
            </a:pPr>
            <a:r>
              <a:t>чередуются между играми.</a:t>
            </a:r>
          </a:p>
        </p:txBody>
      </p:sp>
      <p:sp>
        <p:nvSpPr>
          <p:cNvPr id="6" name="Rounded Rectangle 5"/>
          <p:cNvSpPr/>
          <p:nvPr/>
        </p:nvSpPr>
        <p:spPr>
          <a:xfrm>
            <a:off x="548640"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Цена и конкуренция</a:t>
            </a:r>
          </a:p>
        </p:txBody>
      </p:sp>
      <p:sp>
        <p:nvSpPr>
          <p:cNvPr id="9" name="TextBox 8"/>
          <p:cNvSpPr txBox="1"/>
          <p:nvPr/>
        </p:nvSpPr>
        <p:spPr>
          <a:xfrm>
            <a:off x="749808"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Доступная цена,</a:t>
            </a:r>
          </a:p>
          <a:p>
            <a:pPr>
              <a:lnSpc>
                <a:spcPct val="116000"/>
              </a:lnSpc>
              <a:spcBef>
                <a:spcPts val="0"/>
              </a:spcBef>
              <a:spcAft>
                <a:spcPts val="0"/>
              </a:spcAft>
              <a:defRPr sz="1900" b="0">
                <a:solidFill>
                  <a:srgbClr val="526579"/>
                </a:solidFill>
                <a:latin typeface="Arial"/>
              </a:defRPr>
            </a:pPr>
            <a:r>
              <a:t>премиальная цена,</a:t>
            </a:r>
          </a:p>
          <a:p>
            <a:pPr>
              <a:lnSpc>
                <a:spcPct val="116000"/>
              </a:lnSpc>
              <a:spcBef>
                <a:spcPts val="0"/>
              </a:spcBef>
              <a:spcAft>
                <a:spcPts val="0"/>
              </a:spcAft>
              <a:defRPr sz="1900" b="0">
                <a:solidFill>
                  <a:srgbClr val="526579"/>
                </a:solidFill>
                <a:latin typeface="Arial"/>
              </a:defRPr>
            </a:pPr>
            <a:r>
              <a:t>изменение после нулевых</a:t>
            </a:r>
          </a:p>
          <a:p>
            <a:pPr>
              <a:lnSpc>
                <a:spcPct val="116000"/>
              </a:lnSpc>
              <a:spcBef>
                <a:spcPts val="0"/>
              </a:spcBef>
              <a:spcAft>
                <a:spcPts val="0"/>
              </a:spcAft>
              <a:defRPr sz="1900" b="0">
                <a:solidFill>
                  <a:srgbClr val="526579"/>
                </a:solidFill>
                <a:latin typeface="Arial"/>
              </a:defRPr>
            </a:pPr>
            <a:r>
              <a:t>продаж или распродажи.</a:t>
            </a:r>
          </a:p>
        </p:txBody>
      </p:sp>
      <p:sp>
        <p:nvSpPr>
          <p:cNvPr id="10" name="Rounded Rectangle 9"/>
          <p:cNvSpPr/>
          <p:nvPr/>
        </p:nvSpPr>
        <p:spPr>
          <a:xfrm>
            <a:off x="4303775"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4943"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3"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Производство и товар</a:t>
            </a:r>
          </a:p>
        </p:txBody>
      </p:sp>
      <p:sp>
        <p:nvSpPr>
          <p:cNvPr id="13" name="TextBox 12"/>
          <p:cNvSpPr txBox="1"/>
          <p:nvPr/>
        </p:nvSpPr>
        <p:spPr>
          <a:xfrm>
            <a:off x="4504943"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Управление остатком,</a:t>
            </a:r>
          </a:p>
          <a:p>
            <a:pPr>
              <a:lnSpc>
                <a:spcPct val="116000"/>
              </a:lnSpc>
              <a:spcBef>
                <a:spcPts val="0"/>
              </a:spcBef>
              <a:spcAft>
                <a:spcPts val="0"/>
              </a:spcAft>
              <a:defRPr sz="1900" b="0">
                <a:solidFill>
                  <a:srgbClr val="526579"/>
                </a:solidFill>
                <a:latin typeface="Arial"/>
              </a:defRPr>
            </a:pPr>
            <a:r>
              <a:t>короткий цикл, качество и</a:t>
            </a:r>
          </a:p>
          <a:p>
            <a:pPr>
              <a:lnSpc>
                <a:spcPct val="116000"/>
              </a:lnSpc>
              <a:spcBef>
                <a:spcPts val="0"/>
              </a:spcBef>
              <a:spcAft>
                <a:spcPts val="0"/>
              </a:spcAft>
              <a:defRPr sz="1900" b="0">
                <a:solidFill>
                  <a:srgbClr val="526579"/>
                </a:solidFill>
                <a:latin typeface="Arial"/>
              </a:defRPr>
            </a:pPr>
            <a:r>
              <a:t>ассортимент.</a:t>
            </a:r>
          </a:p>
        </p:txBody>
      </p:sp>
      <p:sp>
        <p:nvSpPr>
          <p:cNvPr id="14" name="Rounded Rectangle 13"/>
          <p:cNvSpPr/>
          <p:nvPr/>
        </p:nvSpPr>
        <p:spPr>
          <a:xfrm>
            <a:off x="8058911"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0080"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0080"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Реклама и деньги</a:t>
            </a:r>
          </a:p>
        </p:txBody>
      </p:sp>
      <p:sp>
        <p:nvSpPr>
          <p:cNvPr id="17" name="TextBox 16"/>
          <p:cNvSpPr txBox="1"/>
          <p:nvPr/>
        </p:nvSpPr>
        <p:spPr>
          <a:xfrm>
            <a:off x="8260080"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Рекламные импульсы,</a:t>
            </a:r>
          </a:p>
          <a:p>
            <a:pPr>
              <a:lnSpc>
                <a:spcPct val="116000"/>
              </a:lnSpc>
              <a:spcBef>
                <a:spcPts val="0"/>
              </a:spcBef>
              <a:spcAft>
                <a:spcPts val="0"/>
              </a:spcAft>
              <a:defRPr sz="1900" b="0">
                <a:solidFill>
                  <a:srgbClr val="526579"/>
                </a:solidFill>
                <a:latin typeface="Arial"/>
              </a:defRPr>
            </a:pPr>
            <a:r>
              <a:t>остановка затрат, резерв и</a:t>
            </a:r>
          </a:p>
          <a:p>
            <a:pPr>
              <a:lnSpc>
                <a:spcPct val="116000"/>
              </a:lnSpc>
              <a:spcBef>
                <a:spcPts val="0"/>
              </a:spcBef>
              <a:spcAft>
                <a:spcPts val="0"/>
              </a:spcAft>
              <a:defRPr sz="1900" b="0">
                <a:solidFill>
                  <a:srgbClr val="526579"/>
                </a:solidFill>
                <a:latin typeface="Arial"/>
              </a:defRPr>
            </a:pPr>
            <a:r>
              <a:t>контроль кредита.</a:t>
            </a:r>
          </a:p>
        </p:txBody>
      </p:sp>
      <p:sp>
        <p:nvSpPr>
          <p:cNvPr id="18" name="Rounded Rectangle 1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Контрольный прогон: 38 завершённых игр, каждая политика участвовала дважды.</a:t>
            </a:r>
          </a:p>
        </p:txBody>
      </p:sp>
      <p:sp>
        <p:nvSpPr>
          <p:cNvPr id="20" name="Rectangle 1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2" name="TextBox 2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КАК ФОРМИРУЕТСЯ ДАТАСЕТ</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Итерация 2 · Из решения в учебный пример</a:t>
            </a:r>
          </a:p>
        </p:txBody>
      </p:sp>
      <p:sp>
        <p:nvSpPr>
          <p:cNvPr id="5" name="TextBox 4"/>
          <p:cNvSpPr txBox="1"/>
          <p:nvPr/>
        </p:nvSpPr>
        <p:spPr>
          <a:xfrm>
            <a:off x="548640" y="2267712"/>
            <a:ext cx="11064240" cy="292608"/>
          </a:xfrm>
          <a:prstGeom prst="rect">
            <a:avLst/>
          </a:prstGeom>
          <a:noFill/>
        </p:spPr>
        <p:txBody>
          <a:bodyPr wrap="none" lIns="0" rIns="0" tIns="0" bIns="0">
            <a:spAutoFit/>
          </a:bodyPr>
          <a:lstStyle/>
          <a:p>
            <a:pPr>
              <a:lnSpc>
                <a:spcPct val="116000"/>
              </a:lnSpc>
              <a:spcBef>
                <a:spcPts val="0"/>
              </a:spcBef>
              <a:spcAft>
                <a:spcPts val="0"/>
              </a:spcAft>
              <a:defRPr sz="1200" b="1">
                <a:solidFill>
                  <a:srgbClr val="087F8C"/>
                </a:solidFill>
                <a:latin typeface="Arial"/>
              </a:defRPr>
            </a:pPr>
            <a:r>
              <a:t>ОДИН ЭПИЗОД</a:t>
            </a:r>
          </a:p>
        </p:txBody>
      </p:sp>
      <p:sp>
        <p:nvSpPr>
          <p:cNvPr id="6" name="Rounded Rectangle 5"/>
          <p:cNvSpPr/>
          <p:nvPr/>
        </p:nvSpPr>
        <p:spPr>
          <a:xfrm>
            <a:off x="548640"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Снимок до</a:t>
            </a:r>
          </a:p>
          <a:p>
            <a:pPr>
              <a:lnSpc>
                <a:spcPct val="116000"/>
              </a:lnSpc>
              <a:spcBef>
                <a:spcPts val="0"/>
              </a:spcBef>
              <a:spcAft>
                <a:spcPts val="0"/>
              </a:spcAft>
              <a:defRPr sz="1800" b="1">
                <a:solidFill>
                  <a:srgbClr val="142438"/>
                </a:solidFill>
                <a:latin typeface="Arial"/>
              </a:defRPr>
            </a:pPr>
            <a:r>
              <a:t>решения</a:t>
            </a:r>
          </a:p>
        </p:txBody>
      </p:sp>
      <p:sp>
        <p:nvSpPr>
          <p:cNvPr id="8" name="TextBox 7"/>
          <p:cNvSpPr txBox="1"/>
          <p:nvPr/>
        </p:nvSpPr>
        <p:spPr>
          <a:xfrm>
            <a:off x="3118104"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9" name="Rounded Rectangle 8"/>
          <p:cNvSpPr/>
          <p:nvPr/>
        </p:nvSpPr>
        <p:spPr>
          <a:xfrm>
            <a:off x="3401568"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7016"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Принятое</a:t>
            </a:r>
          </a:p>
          <a:p>
            <a:pPr>
              <a:lnSpc>
                <a:spcPct val="116000"/>
              </a:lnSpc>
              <a:spcBef>
                <a:spcPts val="0"/>
              </a:spcBef>
              <a:spcAft>
                <a:spcPts val="0"/>
              </a:spcAft>
              <a:defRPr sz="1800" b="1">
                <a:solidFill>
                  <a:srgbClr val="142438"/>
                </a:solidFill>
                <a:latin typeface="Arial"/>
              </a:defRPr>
            </a:pPr>
            <a:r>
              <a:t>действие</a:t>
            </a:r>
          </a:p>
        </p:txBody>
      </p:sp>
      <p:sp>
        <p:nvSpPr>
          <p:cNvPr id="11" name="TextBox 10"/>
          <p:cNvSpPr txBox="1"/>
          <p:nvPr/>
        </p:nvSpPr>
        <p:spPr>
          <a:xfrm>
            <a:off x="5971032"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12" name="Rounded Rectangle 11"/>
          <p:cNvSpPr/>
          <p:nvPr/>
        </p:nvSpPr>
        <p:spPr>
          <a:xfrm>
            <a:off x="6254496"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Завершённый</a:t>
            </a:r>
          </a:p>
          <a:p>
            <a:pPr>
              <a:lnSpc>
                <a:spcPct val="116000"/>
              </a:lnSpc>
              <a:spcBef>
                <a:spcPts val="0"/>
              </a:spcBef>
              <a:spcAft>
                <a:spcPts val="0"/>
              </a:spcAft>
              <a:defRPr sz="1800" b="1">
                <a:solidFill>
                  <a:srgbClr val="142438"/>
                </a:solidFill>
                <a:latin typeface="Arial"/>
              </a:defRPr>
            </a:pPr>
            <a:r>
              <a:t>цикл</a:t>
            </a:r>
          </a:p>
        </p:txBody>
      </p:sp>
      <p:sp>
        <p:nvSpPr>
          <p:cNvPr id="14" name="TextBox 13"/>
          <p:cNvSpPr txBox="1"/>
          <p:nvPr/>
        </p:nvSpPr>
        <p:spPr>
          <a:xfrm>
            <a:off x="8823960" y="2999232"/>
            <a:ext cx="265176" cy="292608"/>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a:t>
            </a:r>
          </a:p>
        </p:txBody>
      </p:sp>
      <p:sp>
        <p:nvSpPr>
          <p:cNvPr id="15" name="Rounded Rectangle 14"/>
          <p:cNvSpPr/>
          <p:nvPr/>
        </p:nvSpPr>
        <p:spPr>
          <a:xfrm>
            <a:off x="9107424" y="2706624"/>
            <a:ext cx="2496312" cy="84124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2872" y="2852928"/>
            <a:ext cx="2185416" cy="56692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Сумма продаж</a:t>
            </a:r>
          </a:p>
          <a:p>
            <a:pPr>
              <a:lnSpc>
                <a:spcPct val="116000"/>
              </a:lnSpc>
              <a:spcBef>
                <a:spcPts val="0"/>
              </a:spcBef>
              <a:spcAft>
                <a:spcPts val="0"/>
              </a:spcAft>
              <a:defRPr sz="1800" b="1">
                <a:solidFill>
                  <a:srgbClr val="142438"/>
                </a:solidFill>
                <a:latin typeface="Arial"/>
              </a:defRPr>
            </a:pPr>
            <a:r>
              <a:t>за цикл</a:t>
            </a:r>
          </a:p>
        </p:txBody>
      </p:sp>
      <p:sp>
        <p:nvSpPr>
          <p:cNvPr id="17" name="TextBox 16"/>
          <p:cNvSpPr txBox="1"/>
          <p:nvPr/>
        </p:nvSpPr>
        <p:spPr>
          <a:xfrm>
            <a:off x="548640" y="4005072"/>
            <a:ext cx="11064240" cy="795528"/>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Вход: доступное состояние и параметры действия. Цель: фактические продажи за</a:t>
            </a:r>
          </a:p>
          <a:p>
            <a:pPr>
              <a:lnSpc>
                <a:spcPct val="116000"/>
              </a:lnSpc>
              <a:spcBef>
                <a:spcPts val="0"/>
              </a:spcBef>
              <a:spcAft>
                <a:spcPts val="0"/>
              </a:spcAft>
              <a:defRPr sz="2200" b="0">
                <a:solidFill>
                  <a:srgbClr val="526579"/>
                </a:solidFill>
                <a:latin typeface="Arial"/>
              </a:defRPr>
            </a:pPr>
            <a:r>
              <a:t>следующий цикл.</a:t>
            </a:r>
          </a:p>
        </p:txBody>
      </p:sp>
      <p:sp>
        <p:nvSpPr>
          <p:cNvPr id="18" name="Rounded Rectangle 1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Запрос совета сам по себе не является учебным действием.</a:t>
            </a:r>
          </a:p>
        </p:txBody>
      </p:sp>
      <p:sp>
        <p:nvSpPr>
          <p:cNvPr id="20" name="Rectangle 1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2" name="TextBox 2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ЧТО ВИДИТ МОДЕЛЬ</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Признаки и граница доступных данных</a:t>
            </a:r>
          </a:p>
        </p:txBody>
      </p:sp>
      <p:sp>
        <p:nvSpPr>
          <p:cNvPr id="5" name="TextBox 4"/>
          <p:cNvSpPr txBox="1"/>
          <p:nvPr/>
        </p:nvSpPr>
        <p:spPr>
          <a:xfrm>
            <a:off x="548640" y="1865376"/>
            <a:ext cx="11064240" cy="704088"/>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Текущая версия использует 17 числовых признаков.</a:t>
            </a:r>
          </a:p>
        </p:txBody>
      </p:sp>
      <p:sp>
        <p:nvSpPr>
          <p:cNvPr id="6" name="Rounded Rectangle 5"/>
          <p:cNvSpPr/>
          <p:nvPr/>
        </p:nvSpPr>
        <p:spPr>
          <a:xfrm>
            <a:off x="548640"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Действие</a:t>
            </a:r>
          </a:p>
        </p:txBody>
      </p:sp>
      <p:sp>
        <p:nvSpPr>
          <p:cNvPr id="9" name="TextBox 8"/>
          <p:cNvSpPr txBox="1"/>
          <p:nvPr/>
        </p:nvSpPr>
        <p:spPr>
          <a:xfrm>
            <a:off x="749808"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Партия, цена, качество,</a:t>
            </a:r>
          </a:p>
          <a:p>
            <a:pPr>
              <a:lnSpc>
                <a:spcPct val="116000"/>
              </a:lnSpc>
              <a:spcBef>
                <a:spcPts val="0"/>
              </a:spcBef>
              <a:spcAft>
                <a:spcPts val="0"/>
              </a:spcAft>
              <a:defRPr sz="1900" b="0">
                <a:solidFill>
                  <a:srgbClr val="526579"/>
                </a:solidFill>
                <a:latin typeface="Arial"/>
              </a:defRPr>
            </a:pPr>
            <a:r>
              <a:t>ассортимент, реклама и</a:t>
            </a:r>
          </a:p>
          <a:p>
            <a:pPr>
              <a:lnSpc>
                <a:spcPct val="116000"/>
              </a:lnSpc>
              <a:spcBef>
                <a:spcPts val="0"/>
              </a:spcBef>
              <a:spcAft>
                <a:spcPts val="0"/>
              </a:spcAft>
              <a:defRPr sz="1900" b="0">
                <a:solidFill>
                  <a:srgbClr val="526579"/>
                </a:solidFill>
                <a:latin typeface="Arial"/>
              </a:defRPr>
            </a:pPr>
            <a:r>
              <a:t>длина цикла.</a:t>
            </a:r>
          </a:p>
        </p:txBody>
      </p:sp>
      <p:sp>
        <p:nvSpPr>
          <p:cNvPr id="10" name="Rounded Rectangle 9"/>
          <p:cNvSpPr/>
          <p:nvPr/>
        </p:nvSpPr>
        <p:spPr>
          <a:xfrm>
            <a:off x="4303775"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4943"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3"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Предприятие</a:t>
            </a:r>
          </a:p>
        </p:txBody>
      </p:sp>
      <p:sp>
        <p:nvSpPr>
          <p:cNvPr id="13" name="TextBox 12"/>
          <p:cNvSpPr txBox="1"/>
          <p:nvPr/>
        </p:nvSpPr>
        <p:spPr>
          <a:xfrm>
            <a:off x="4504943"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Остаток, мощность,</a:t>
            </a:r>
          </a:p>
          <a:p>
            <a:pPr>
              <a:lnSpc>
                <a:spcPct val="116000"/>
              </a:lnSpc>
              <a:spcBef>
                <a:spcPts val="0"/>
              </a:spcBef>
              <a:spcAft>
                <a:spcPts val="0"/>
              </a:spcAft>
              <a:defRPr sz="1900" b="0">
                <a:solidFill>
                  <a:srgbClr val="526579"/>
                </a:solidFill>
                <a:latin typeface="Arial"/>
              </a:defRPr>
            </a:pPr>
            <a:r>
              <a:t>баланс, базовая</a:t>
            </a:r>
          </a:p>
          <a:p>
            <a:pPr>
              <a:lnSpc>
                <a:spcPct val="116000"/>
              </a:lnSpc>
              <a:spcBef>
                <a:spcPts val="0"/>
              </a:spcBef>
              <a:spcAft>
                <a:spcPts val="0"/>
              </a:spcAft>
              <a:defRPr sz="1900" b="0">
                <a:solidFill>
                  <a:srgbClr val="526579"/>
                </a:solidFill>
                <a:latin typeface="Arial"/>
              </a:defRPr>
            </a:pPr>
            <a:r>
              <a:t>себестоимость и история</a:t>
            </a:r>
          </a:p>
          <a:p>
            <a:pPr>
              <a:lnSpc>
                <a:spcPct val="116000"/>
              </a:lnSpc>
              <a:spcBef>
                <a:spcPts val="0"/>
              </a:spcBef>
              <a:spcAft>
                <a:spcPts val="0"/>
              </a:spcAft>
              <a:defRPr sz="1900" b="0">
                <a:solidFill>
                  <a:srgbClr val="526579"/>
                </a:solidFill>
                <a:latin typeface="Arial"/>
              </a:defRPr>
            </a:pPr>
            <a:r>
              <a:t>продаж.</a:t>
            </a:r>
          </a:p>
        </p:txBody>
      </p:sp>
      <p:sp>
        <p:nvSpPr>
          <p:cNvPr id="14" name="Rounded Rectangle 13"/>
          <p:cNvSpPr/>
          <p:nvPr/>
        </p:nvSpPr>
        <p:spPr>
          <a:xfrm>
            <a:off x="8058911"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0080"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0080"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Видимый рынок</a:t>
            </a:r>
          </a:p>
        </p:txBody>
      </p:sp>
      <p:sp>
        <p:nvSpPr>
          <p:cNvPr id="17" name="TextBox 16"/>
          <p:cNvSpPr txBox="1"/>
          <p:nvPr/>
        </p:nvSpPr>
        <p:spPr>
          <a:xfrm>
            <a:off x="8260080"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Минимальная цена</a:t>
            </a:r>
          </a:p>
          <a:p>
            <a:pPr>
              <a:lnSpc>
                <a:spcPct val="116000"/>
              </a:lnSpc>
              <a:spcBef>
                <a:spcPts val="0"/>
              </a:spcBef>
              <a:spcAft>
                <a:spcPts val="0"/>
              </a:spcAft>
              <a:defRPr sz="1900" b="0">
                <a:solidFill>
                  <a:srgbClr val="526579"/>
                </a:solidFill>
                <a:latin typeface="Arial"/>
              </a:defRPr>
            </a:pPr>
            <a:r>
              <a:t>конкурентов и число</a:t>
            </a:r>
          </a:p>
          <a:p>
            <a:pPr>
              <a:lnSpc>
                <a:spcPct val="116000"/>
              </a:lnSpc>
              <a:spcBef>
                <a:spcPts val="0"/>
              </a:spcBef>
              <a:spcAft>
                <a:spcPts val="0"/>
              </a:spcAft>
              <a:defRPr sz="1900" b="0">
                <a:solidFill>
                  <a:srgbClr val="526579"/>
                </a:solidFill>
                <a:latin typeface="Arial"/>
              </a:defRPr>
            </a:pPr>
            <a:r>
              <a:t>видимых предложений.</a:t>
            </a:r>
          </a:p>
        </p:txBody>
      </p:sp>
      <p:sp>
        <p:nvSpPr>
          <p:cNvPr id="18" name="Rounded Rectangle 1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Будущие продажи, чужие балансы и скрытые настройки покупателя исключены.</a:t>
            </a:r>
          </a:p>
        </p:txBody>
      </p:sp>
      <p:sp>
        <p:nvSpPr>
          <p:cNvPr id="20" name="Rectangle 1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2" name="TextBox 2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ПОСЛЕДНИЙ СОХРАНЁННЫЙ ЗАПУСК</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Какой набор реально использован в обучении</a:t>
            </a:r>
          </a:p>
        </p:txBody>
      </p:sp>
      <p:sp>
        <p:nvSpPr>
          <p:cNvPr id="5" name="Rounded Rectangle 4"/>
          <p:cNvSpPr/>
          <p:nvPr/>
        </p:nvSpPr>
        <p:spPr>
          <a:xfrm>
            <a:off x="548640"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2 152</a:t>
            </a:r>
          </a:p>
        </p:txBody>
      </p:sp>
      <p:sp>
        <p:nvSpPr>
          <p:cNvPr id="7" name="TextBox 6"/>
          <p:cNvSpPr txBox="1"/>
          <p:nvPr/>
        </p:nvSpPr>
        <p:spPr>
          <a:xfrm>
            <a:off x="749808"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завершённые игры</a:t>
            </a:r>
          </a:p>
        </p:txBody>
      </p:sp>
      <p:sp>
        <p:nvSpPr>
          <p:cNvPr id="8" name="Rounded Rectangle 7"/>
          <p:cNvSpPr/>
          <p:nvPr/>
        </p:nvSpPr>
        <p:spPr>
          <a:xfrm>
            <a:off x="4297679"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7"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123 897</a:t>
            </a:r>
          </a:p>
        </p:txBody>
      </p:sp>
      <p:sp>
        <p:nvSpPr>
          <p:cNvPr id="10" name="TextBox 9"/>
          <p:cNvSpPr txBox="1"/>
          <p:nvPr/>
        </p:nvSpPr>
        <p:spPr>
          <a:xfrm>
            <a:off x="4498847"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полные учебные циклы</a:t>
            </a:r>
          </a:p>
        </p:txBody>
      </p:sp>
      <p:sp>
        <p:nvSpPr>
          <p:cNvPr id="11" name="Rounded Rectangle 10"/>
          <p:cNvSpPr/>
          <p:nvPr/>
        </p:nvSpPr>
        <p:spPr>
          <a:xfrm>
            <a:off x="8046719"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17</a:t>
            </a:r>
          </a:p>
        </p:txBody>
      </p:sp>
      <p:sp>
        <p:nvSpPr>
          <p:cNvPr id="13" name="TextBox 12"/>
          <p:cNvSpPr txBox="1"/>
          <p:nvPr/>
        </p:nvSpPr>
        <p:spPr>
          <a:xfrm>
            <a:off x="8247888"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числовых признаков</a:t>
            </a:r>
          </a:p>
        </p:txBody>
      </p:sp>
      <p:sp>
        <p:nvSpPr>
          <p:cNvPr id="14" name="Rectangle 13"/>
          <p:cNvSpPr/>
          <p:nvPr/>
        </p:nvSpPr>
        <p:spPr>
          <a:xfrm>
            <a:off x="621792" y="3767328"/>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57600"/>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Все накопленные подходящие COLLECT-игры, включая серию №20.</a:t>
            </a:r>
          </a:p>
        </p:txBody>
      </p:sp>
      <p:sp>
        <p:nvSpPr>
          <p:cNvPr id="16" name="Rectangle 15"/>
          <p:cNvSpPr/>
          <p:nvPr/>
        </p:nvSpPr>
        <p:spPr>
          <a:xfrm>
            <a:off x="621792" y="4334256"/>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24528"/>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В отобранных циклах: 0 пропущенных меток и 0 дублей.</a:t>
            </a:r>
          </a:p>
        </p:txBody>
      </p:sp>
      <p:sp>
        <p:nvSpPr>
          <p:cNvPr id="18" name="Rectangle 17"/>
          <p:cNvSpPr/>
          <p:nvPr/>
        </p:nvSpPr>
        <p:spPr>
          <a:xfrm>
            <a:off x="621792" y="4901184"/>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791456"/>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Обучение завершено 09.10.2026; отчёт и артефакт сохранены.</a:t>
            </a:r>
          </a:p>
        </p:txBody>
      </p:sp>
      <p:sp>
        <p:nvSpPr>
          <p:cNvPr id="20" name="Rounded Rectangle 19"/>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Много циклов внутри игры не означает столько же независимых наблюдений.</a:t>
            </a:r>
          </a:p>
        </p:txBody>
      </p:sp>
      <p:sp>
        <p:nvSpPr>
          <p:cNvPr id="22" name="Rectangle 21"/>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4" name="TextBox 23"/>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МЕТОДИКА ОБУЧЕНИЯ И ОЦЕНКИ</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Проверка прогноза без смешивания игр</a:t>
            </a:r>
          </a:p>
        </p:txBody>
      </p:sp>
      <p:sp>
        <p:nvSpPr>
          <p:cNvPr id="5" name="Rounded Rectangle 4"/>
          <p:cNvSpPr/>
          <p:nvPr/>
        </p:nvSpPr>
        <p:spPr>
          <a:xfrm>
            <a:off x="548640"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1 290</a:t>
            </a:r>
          </a:p>
        </p:txBody>
      </p:sp>
      <p:sp>
        <p:nvSpPr>
          <p:cNvPr id="7" name="TextBox 6"/>
          <p:cNvSpPr txBox="1"/>
          <p:nvPr/>
        </p:nvSpPr>
        <p:spPr>
          <a:xfrm>
            <a:off x="749808"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train · обучение</a:t>
            </a:r>
          </a:p>
        </p:txBody>
      </p:sp>
      <p:sp>
        <p:nvSpPr>
          <p:cNvPr id="8" name="Rounded Rectangle 7"/>
          <p:cNvSpPr/>
          <p:nvPr/>
        </p:nvSpPr>
        <p:spPr>
          <a:xfrm>
            <a:off x="4297679"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7"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431</a:t>
            </a:r>
          </a:p>
        </p:txBody>
      </p:sp>
      <p:sp>
        <p:nvSpPr>
          <p:cNvPr id="10" name="TextBox 9"/>
          <p:cNvSpPr txBox="1"/>
          <p:nvPr/>
        </p:nvSpPr>
        <p:spPr>
          <a:xfrm>
            <a:off x="4498847"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validation · выбор</a:t>
            </a:r>
          </a:p>
        </p:txBody>
      </p:sp>
      <p:sp>
        <p:nvSpPr>
          <p:cNvPr id="11" name="Rounded Rectangle 10"/>
          <p:cNvSpPr/>
          <p:nvPr/>
        </p:nvSpPr>
        <p:spPr>
          <a:xfrm>
            <a:off x="8046719" y="2093976"/>
            <a:ext cx="3566160" cy="12801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2249424"/>
            <a:ext cx="3163824" cy="640080"/>
          </a:xfrm>
          <a:prstGeom prst="rect">
            <a:avLst/>
          </a:prstGeom>
          <a:noFill/>
        </p:spPr>
        <p:txBody>
          <a:bodyPr wrap="none" lIns="0" rIns="0" tIns="0" bIns="0">
            <a:spAutoFit/>
          </a:bodyPr>
          <a:lstStyle/>
          <a:p>
            <a:pPr>
              <a:lnSpc>
                <a:spcPct val="116000"/>
              </a:lnSpc>
              <a:spcBef>
                <a:spcPts val="0"/>
              </a:spcBef>
              <a:spcAft>
                <a:spcPts val="0"/>
              </a:spcAft>
              <a:defRPr sz="3800" b="1">
                <a:solidFill>
                  <a:srgbClr val="087F8C"/>
                </a:solidFill>
                <a:latin typeface="Arial"/>
              </a:defRPr>
            </a:pPr>
            <a:r>
              <a:t>431</a:t>
            </a:r>
          </a:p>
        </p:txBody>
      </p:sp>
      <p:sp>
        <p:nvSpPr>
          <p:cNvPr id="13" name="TextBox 12"/>
          <p:cNvSpPr txBox="1"/>
          <p:nvPr/>
        </p:nvSpPr>
        <p:spPr>
          <a:xfrm>
            <a:off x="8247888" y="2971800"/>
            <a:ext cx="3163824" cy="265176"/>
          </a:xfrm>
          <a:prstGeom prst="rect">
            <a:avLst/>
          </a:prstGeom>
          <a:noFill/>
        </p:spPr>
        <p:txBody>
          <a:bodyPr wrap="none" lIns="0" rIns="0" tIns="0" bIns="0">
            <a:spAutoFit/>
          </a:bodyPr>
          <a:lstStyle/>
          <a:p>
            <a:pPr>
              <a:lnSpc>
                <a:spcPct val="116000"/>
              </a:lnSpc>
              <a:spcBef>
                <a:spcPts val="0"/>
              </a:spcBef>
              <a:spcAft>
                <a:spcPts val="0"/>
              </a:spcAft>
              <a:defRPr sz="1550" b="0">
                <a:solidFill>
                  <a:srgbClr val="526579"/>
                </a:solidFill>
                <a:latin typeface="Arial"/>
              </a:defRPr>
            </a:pPr>
            <a:r>
              <a:t>test · отчёт</a:t>
            </a:r>
          </a:p>
        </p:txBody>
      </p:sp>
      <p:sp>
        <p:nvSpPr>
          <p:cNvPr id="14" name="Rectangle 13"/>
          <p:cNvSpPr/>
          <p:nvPr/>
        </p:nvSpPr>
        <p:spPr>
          <a:xfrm>
            <a:off x="621792" y="3767328"/>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57600"/>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Разделение по группам сценариев с одинаковым seed; примерно 60 / 20 / 20.</a:t>
            </a:r>
          </a:p>
        </p:txBody>
      </p:sp>
      <p:sp>
        <p:nvSpPr>
          <p:cNvPr id="16" name="Rectangle 15"/>
          <p:cNvSpPr/>
          <p:nvPr/>
        </p:nvSpPr>
        <p:spPr>
          <a:xfrm>
            <a:off x="621792" y="4334256"/>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24528"/>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Модель выбирается по MAE на валидации, тест не участвует в выборе.</a:t>
            </a:r>
          </a:p>
        </p:txBody>
      </p:sp>
      <p:sp>
        <p:nvSpPr>
          <p:cNvPr id="18" name="Rectangle 17"/>
          <p:cNvSpPr/>
          <p:nvPr/>
        </p:nvSpPr>
        <p:spPr>
          <a:xfrm>
            <a:off x="621792" y="4901184"/>
            <a:ext cx="64008" cy="640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791456"/>
            <a:ext cx="10698480" cy="475488"/>
          </a:xfrm>
          <a:prstGeom prst="rect">
            <a:avLst/>
          </a:prstGeom>
          <a:noFill/>
        </p:spPr>
        <p:txBody>
          <a:bodyPr wrap="none" lIns="0" rIns="0" tIns="0" bIns="0">
            <a:spAutoFit/>
          </a:bodyPr>
          <a:lstStyle/>
          <a:p>
            <a:pPr>
              <a:lnSpc>
                <a:spcPct val="116000"/>
              </a:lnSpc>
              <a:spcBef>
                <a:spcPts val="0"/>
              </a:spcBef>
              <a:spcAft>
                <a:spcPts val="0"/>
              </a:spcAft>
              <a:defRPr sz="1950" b="0">
                <a:solidFill>
                  <a:srgbClr val="142438"/>
                </a:solidFill>
                <a:latin typeface="Arial"/>
              </a:defRPr>
            </a:pPr>
            <a:r>
              <a:t>MAE — средняя абсолютная ошибка прогноза продаж в единицах товара.</a:t>
            </a:r>
          </a:p>
        </p:txBody>
      </p:sp>
      <p:sp>
        <p:nvSpPr>
          <p:cNvPr id="20" name="Rounded Rectangle 19"/>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Для финального вывода нужен новый независимый набор сценариев.</a:t>
            </a:r>
          </a:p>
        </p:txBody>
      </p:sp>
      <p:sp>
        <p:nvSpPr>
          <p:cNvPr id="22" name="Rectangle 21"/>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4" name="TextBox 23"/>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ОДНА ЗАДАЧА И ОДИН НАБОР ПРИЗНАКОВ</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сейчас обучаются модели-кандидаты</a:t>
            </a:r>
          </a:p>
        </p:txBody>
      </p:sp>
      <p:cxnSp>
        <p:nvCxnSpPr>
          <p:cNvPr id="5" name="Connector 4"/>
          <p:cNvCxnSpPr/>
          <p:nvPr/>
        </p:nvCxnSpPr>
        <p:spPr>
          <a:xfrm flipV="1">
            <a:off x="3337560" y="2766060"/>
            <a:ext cx="960120" cy="86868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337560" y="3543300"/>
            <a:ext cx="960120" cy="914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337560" y="3634740"/>
            <a:ext cx="960120" cy="68580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37560" y="3634740"/>
            <a:ext cx="960120" cy="14630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583680" y="2766060"/>
            <a:ext cx="1188720" cy="86868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83680" y="3543300"/>
            <a:ext cx="1188720" cy="914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583680" y="3634740"/>
            <a:ext cx="1188720" cy="68580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583680" y="3634740"/>
            <a:ext cx="1188720" cy="14630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063240"/>
            <a:ext cx="278892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3172968"/>
            <a:ext cx="2532887" cy="960120"/>
          </a:xfrm>
          <a:prstGeom prst="rect">
            <a:avLst/>
          </a:prstGeom>
          <a:noFill/>
        </p:spPr>
        <p:txBody>
          <a:bodyPr wrap="none" lIns="0" rIns="0" tIns="0" bIns="0">
            <a:spAutoFit/>
          </a:bodyPr>
          <a:lstStyle/>
          <a:p>
            <a:pPr>
              <a:lnSpc>
                <a:spcPct val="116000"/>
              </a:lnSpc>
              <a:spcBef>
                <a:spcPts val="0"/>
              </a:spcBef>
              <a:spcAft>
                <a:spcPts val="0"/>
              </a:spcAft>
              <a:defRPr sz="1550" b="1">
                <a:solidFill>
                  <a:srgbClr val="142438"/>
                </a:solidFill>
                <a:latin typeface="Arial"/>
              </a:defRPr>
            </a:pPr>
            <a:r>
              <a:t>Train</a:t>
            </a:r>
          </a:p>
          <a:p>
            <a:pPr>
              <a:lnSpc>
                <a:spcPct val="116000"/>
              </a:lnSpc>
              <a:spcBef>
                <a:spcPts val="0"/>
              </a:spcBef>
              <a:spcAft>
                <a:spcPts val="0"/>
              </a:spcAft>
              <a:defRPr sz="1550" b="1">
                <a:solidFill>
                  <a:srgbClr val="142438"/>
                </a:solidFill>
                <a:latin typeface="Arial"/>
              </a:defRPr>
            </a:pPr>
            <a:r>
              <a:t>состояние + действие</a:t>
            </a:r>
          </a:p>
          <a:p>
            <a:pPr>
              <a:lnSpc>
                <a:spcPct val="116000"/>
              </a:lnSpc>
              <a:spcBef>
                <a:spcPts val="0"/>
              </a:spcBef>
              <a:spcAft>
                <a:spcPts val="0"/>
              </a:spcAft>
              <a:defRPr sz="1550" b="1">
                <a:solidFill>
                  <a:srgbClr val="142438"/>
                </a:solidFill>
                <a:latin typeface="Arial"/>
              </a:defRPr>
            </a:pPr>
            <a:r>
              <a:t>→ фактические продажи</a:t>
            </a:r>
          </a:p>
        </p:txBody>
      </p:sp>
      <p:sp>
        <p:nvSpPr>
          <p:cNvPr id="15" name="Rounded Rectangle 14"/>
          <p:cNvSpPr/>
          <p:nvPr/>
        </p:nvSpPr>
        <p:spPr>
          <a:xfrm>
            <a:off x="4297680" y="2514600"/>
            <a:ext cx="2286000" cy="50292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24328"/>
            <a:ext cx="2029967" cy="320040"/>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Ridge</a:t>
            </a:r>
          </a:p>
        </p:txBody>
      </p:sp>
      <p:sp>
        <p:nvSpPr>
          <p:cNvPr id="17" name="Rounded Rectangle 16"/>
          <p:cNvSpPr/>
          <p:nvPr/>
        </p:nvSpPr>
        <p:spPr>
          <a:xfrm>
            <a:off x="4297680" y="3291840"/>
            <a:ext cx="2286000" cy="50292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5696" y="3401568"/>
            <a:ext cx="2029967" cy="320040"/>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RandomForest</a:t>
            </a:r>
          </a:p>
        </p:txBody>
      </p:sp>
      <p:sp>
        <p:nvSpPr>
          <p:cNvPr id="19" name="Rounded Rectangle 18"/>
          <p:cNvSpPr/>
          <p:nvPr/>
        </p:nvSpPr>
        <p:spPr>
          <a:xfrm>
            <a:off x="4297680" y="4069080"/>
            <a:ext cx="2286000" cy="50292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25696" y="4178808"/>
            <a:ext cx="2029967" cy="320040"/>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CatBoost</a:t>
            </a:r>
          </a:p>
        </p:txBody>
      </p:sp>
      <p:sp>
        <p:nvSpPr>
          <p:cNvPr id="21" name="Rounded Rectangle 20"/>
          <p:cNvSpPr/>
          <p:nvPr/>
        </p:nvSpPr>
        <p:spPr>
          <a:xfrm>
            <a:off x="4297680" y="4846320"/>
            <a:ext cx="2286000" cy="50292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4956048"/>
            <a:ext cx="2029967" cy="320040"/>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LightGBM</a:t>
            </a:r>
          </a:p>
        </p:txBody>
      </p:sp>
      <p:sp>
        <p:nvSpPr>
          <p:cNvPr id="23" name="Rounded Rectangle 22"/>
          <p:cNvSpPr/>
          <p:nvPr/>
        </p:nvSpPr>
        <p:spPr>
          <a:xfrm>
            <a:off x="7772400" y="3063240"/>
            <a:ext cx="384048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0416" y="3172968"/>
            <a:ext cx="3584448" cy="960120"/>
          </a:xfrm>
          <a:prstGeom prst="rect">
            <a:avLst/>
          </a:prstGeom>
          <a:noFill/>
        </p:spPr>
        <p:txBody>
          <a:bodyPr wrap="none" lIns="0" rIns="0" tIns="0" bIns="0">
            <a:spAutoFit/>
          </a:bodyPr>
          <a:lstStyle/>
          <a:p>
            <a:pPr>
              <a:lnSpc>
                <a:spcPct val="116000"/>
              </a:lnSpc>
              <a:spcBef>
                <a:spcPts val="0"/>
              </a:spcBef>
              <a:spcAft>
                <a:spcPts val="0"/>
              </a:spcAft>
              <a:defRPr sz="1900" b="1">
                <a:solidFill>
                  <a:srgbClr val="142438"/>
                </a:solidFill>
                <a:latin typeface="Arial"/>
              </a:defRPr>
            </a:pPr>
            <a:r>
              <a:t>Проверка ошибок</a:t>
            </a:r>
          </a:p>
          <a:p>
            <a:pPr>
              <a:lnSpc>
                <a:spcPct val="116000"/>
              </a:lnSpc>
              <a:spcBef>
                <a:spcPts val="0"/>
              </a:spcBef>
              <a:spcAft>
                <a:spcPts val="0"/>
              </a:spcAft>
              <a:defRPr sz="1900" b="1">
                <a:solidFill>
                  <a:srgbClr val="142438"/>
                </a:solidFill>
                <a:latin typeface="Arial"/>
              </a:defRPr>
            </a:pPr>
            <a:r>
              <a:t>на validation</a:t>
            </a:r>
          </a:p>
          <a:p>
            <a:pPr>
              <a:lnSpc>
                <a:spcPct val="116000"/>
              </a:lnSpc>
              <a:spcBef>
                <a:spcPts val="0"/>
              </a:spcBef>
              <a:spcAft>
                <a:spcPts val="0"/>
              </a:spcAft>
              <a:defRPr sz="1900" b="1">
                <a:solidFill>
                  <a:srgbClr val="142438"/>
                </a:solidFill>
                <a:latin typeface="Arial"/>
              </a:defRPr>
            </a:pPr>
            <a:r>
              <a:t>сравнение с LastSales</a:t>
            </a:r>
          </a:p>
        </p:txBody>
      </p:sp>
      <p:sp>
        <p:nvSpPr>
          <p:cNvPr id="25" name="Rounded Rectangle 24"/>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Это четыре обученных прогноза продаж, а не четыре набора из трёх агентов.</a:t>
            </a:r>
          </a:p>
        </p:txBody>
      </p:sp>
      <p:sp>
        <p:nvSpPr>
          <p:cNvPr id="27" name="Rectangle 26"/>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9" name="TextBox 28"/>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РЕАЛИЗОВАНО · АКТИВАЦИЯ И РЕЗЕРВНЫЙ ПУТЬ</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обученная модель становится действующей</a:t>
            </a:r>
          </a:p>
        </p:txBody>
      </p:sp>
      <p:cxnSp>
        <p:nvCxnSpPr>
          <p:cNvPr id="5" name="Connector 4"/>
          <p:cNvCxnSpPr/>
          <p:nvPr/>
        </p:nvCxnSpPr>
        <p:spPr>
          <a:xfrm>
            <a:off x="2834640" y="3246120"/>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0" y="3246120"/>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35040" y="2971800"/>
            <a:ext cx="365760" cy="228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2971800"/>
            <a:ext cx="365760" cy="228600"/>
          </a:xfrm>
          <a:prstGeom prst="rect">
            <a:avLst/>
          </a:prstGeom>
          <a:noFill/>
        </p:spPr>
        <p:txBody>
          <a:bodyPr wrap="none" lIns="0" rIns="0" tIns="0" bIns="0">
            <a:spAutoFit/>
          </a:bodyPr>
          <a:lstStyle/>
          <a:p>
            <a:pPr>
              <a:lnSpc>
                <a:spcPct val="116000"/>
              </a:lnSpc>
              <a:spcBef>
                <a:spcPts val="0"/>
              </a:spcBef>
              <a:spcAft>
                <a:spcPts val="0"/>
              </a:spcAft>
              <a:defRPr sz="1150" b="0">
                <a:solidFill>
                  <a:srgbClr val="526579"/>
                </a:solidFill>
                <a:latin typeface="Arial"/>
              </a:defRPr>
            </a:pPr>
            <a:r>
              <a:t>да</a:t>
            </a:r>
          </a:p>
        </p:txBody>
      </p:sp>
      <p:cxnSp>
        <p:nvCxnSpPr>
          <p:cNvPr id="9" name="Connector 8"/>
          <p:cNvCxnSpPr/>
          <p:nvPr/>
        </p:nvCxnSpPr>
        <p:spPr>
          <a:xfrm>
            <a:off x="8778240" y="3246120"/>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663440" y="3703320"/>
            <a:ext cx="365760" cy="7772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617720" y="4023360"/>
            <a:ext cx="457200" cy="228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4023360"/>
            <a:ext cx="457200" cy="228600"/>
          </a:xfrm>
          <a:prstGeom prst="rect">
            <a:avLst/>
          </a:prstGeom>
          <a:noFill/>
        </p:spPr>
        <p:txBody>
          <a:bodyPr wrap="none" lIns="0" rIns="0" tIns="0" bIns="0">
            <a:spAutoFit/>
          </a:bodyPr>
          <a:lstStyle/>
          <a:p>
            <a:pPr>
              <a:lnSpc>
                <a:spcPct val="116000"/>
              </a:lnSpc>
              <a:spcBef>
                <a:spcPts val="0"/>
              </a:spcBef>
              <a:spcAft>
                <a:spcPts val="0"/>
              </a:spcAft>
              <a:defRPr sz="1150" b="0">
                <a:solidFill>
                  <a:srgbClr val="526579"/>
                </a:solidFill>
                <a:latin typeface="Arial"/>
              </a:defRPr>
            </a:pPr>
            <a:r>
              <a:t>нет</a:t>
            </a:r>
          </a:p>
        </p:txBody>
      </p:sp>
      <p:cxnSp>
        <p:nvCxnSpPr>
          <p:cNvPr id="13" name="Connector 12"/>
          <p:cNvCxnSpPr/>
          <p:nvPr/>
        </p:nvCxnSpPr>
        <p:spPr>
          <a:xfrm flipH="1">
            <a:off x="9646920" y="3703320"/>
            <a:ext cx="822960" cy="77724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2788920"/>
            <a:ext cx="228600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898648"/>
            <a:ext cx="2029967" cy="731520"/>
          </a:xfrm>
          <a:prstGeom prst="rect">
            <a:avLst/>
          </a:prstGeom>
          <a:noFill/>
        </p:spPr>
        <p:txBody>
          <a:bodyPr wrap="none" lIns="0" rIns="0" tIns="0" bIns="0">
            <a:spAutoFit/>
          </a:bodyPr>
          <a:lstStyle/>
          <a:p>
            <a:pPr>
              <a:lnSpc>
                <a:spcPct val="116000"/>
              </a:lnSpc>
              <a:spcBef>
                <a:spcPts val="0"/>
              </a:spcBef>
              <a:spcAft>
                <a:spcPts val="0"/>
              </a:spcAft>
              <a:defRPr sz="1600" b="1">
                <a:solidFill>
                  <a:srgbClr val="142438"/>
                </a:solidFill>
                <a:latin typeface="Arial"/>
              </a:defRPr>
            </a:pPr>
            <a:r>
              <a:t>Validation</a:t>
            </a:r>
          </a:p>
          <a:p>
            <a:pPr>
              <a:lnSpc>
                <a:spcPct val="116000"/>
              </a:lnSpc>
              <a:spcBef>
                <a:spcPts val="0"/>
              </a:spcBef>
              <a:spcAft>
                <a:spcPts val="0"/>
              </a:spcAft>
              <a:defRPr sz="1600" b="1">
                <a:solidFill>
                  <a:srgbClr val="142438"/>
                </a:solidFill>
                <a:latin typeface="Arial"/>
              </a:defRPr>
            </a:pPr>
            <a:r>
              <a:t>ошибка</a:t>
            </a:r>
          </a:p>
          <a:p>
            <a:pPr>
              <a:lnSpc>
                <a:spcPct val="116000"/>
              </a:lnSpc>
              <a:spcBef>
                <a:spcPts val="0"/>
              </a:spcBef>
              <a:spcAft>
                <a:spcPts val="0"/>
              </a:spcAft>
              <a:defRPr sz="1600" b="1">
                <a:solidFill>
                  <a:srgbClr val="142438"/>
                </a:solidFill>
                <a:latin typeface="Arial"/>
              </a:defRPr>
            </a:pPr>
            <a:r>
              <a:t>кандидатов</a:t>
            </a:r>
          </a:p>
        </p:txBody>
      </p:sp>
      <p:sp>
        <p:nvSpPr>
          <p:cNvPr id="16" name="Rounded Rectangle 15"/>
          <p:cNvSpPr/>
          <p:nvPr/>
        </p:nvSpPr>
        <p:spPr>
          <a:xfrm>
            <a:off x="3383280" y="2788920"/>
            <a:ext cx="256032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1296" y="2898648"/>
            <a:ext cx="2304287"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Лучше базового</a:t>
            </a:r>
          </a:p>
          <a:p>
            <a:pPr>
              <a:lnSpc>
                <a:spcPct val="116000"/>
              </a:lnSpc>
              <a:spcBef>
                <a:spcPts val="0"/>
              </a:spcBef>
              <a:spcAft>
                <a:spcPts val="0"/>
              </a:spcAft>
              <a:defRPr sz="1800" b="1">
                <a:solidFill>
                  <a:srgbClr val="142438"/>
                </a:solidFill>
                <a:latin typeface="Arial"/>
              </a:defRPr>
            </a:pPr>
            <a:r>
              <a:t>и действующего?</a:t>
            </a:r>
          </a:p>
        </p:txBody>
      </p:sp>
      <p:sp>
        <p:nvSpPr>
          <p:cNvPr id="18" name="Rounded Rectangle 17"/>
          <p:cNvSpPr/>
          <p:nvPr/>
        </p:nvSpPr>
        <p:spPr>
          <a:xfrm>
            <a:off x="6583680" y="2788920"/>
            <a:ext cx="2194560" cy="91440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1696" y="2898648"/>
            <a:ext cx="1938528"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Сохранить</a:t>
            </a:r>
          </a:p>
          <a:p>
            <a:pPr>
              <a:lnSpc>
                <a:spcPct val="116000"/>
              </a:lnSpc>
              <a:spcBef>
                <a:spcPts val="0"/>
              </a:spcBef>
              <a:spcAft>
                <a:spcPts val="0"/>
              </a:spcAft>
              <a:defRPr sz="1800" b="1">
                <a:solidFill>
                  <a:srgbClr val="087F8C"/>
                </a:solidFill>
                <a:latin typeface="Arial"/>
              </a:defRPr>
            </a:pPr>
            <a:r>
              <a:t>версию модели</a:t>
            </a:r>
          </a:p>
        </p:txBody>
      </p:sp>
      <p:sp>
        <p:nvSpPr>
          <p:cNvPr id="20" name="Rounded Rectangle 19"/>
          <p:cNvSpPr/>
          <p:nvPr/>
        </p:nvSpPr>
        <p:spPr>
          <a:xfrm>
            <a:off x="9326880" y="2788920"/>
            <a:ext cx="2286000" cy="91440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54896" y="2898648"/>
            <a:ext cx="2029967"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Прогноз</a:t>
            </a:r>
          </a:p>
          <a:p>
            <a:pPr>
              <a:lnSpc>
                <a:spcPct val="116000"/>
              </a:lnSpc>
              <a:spcBef>
                <a:spcPts val="0"/>
              </a:spcBef>
              <a:spcAft>
                <a:spcPts val="0"/>
              </a:spcAft>
              <a:defRPr sz="1800" b="1">
                <a:solidFill>
                  <a:srgbClr val="087F8C"/>
                </a:solidFill>
                <a:latin typeface="Arial"/>
              </a:defRPr>
            </a:pPr>
            <a:r>
              <a:t>для карточек</a:t>
            </a:r>
          </a:p>
        </p:txBody>
      </p:sp>
      <p:sp>
        <p:nvSpPr>
          <p:cNvPr id="22" name="Rounded Rectangle 21"/>
          <p:cNvSpPr/>
          <p:nvPr/>
        </p:nvSpPr>
        <p:spPr>
          <a:xfrm>
            <a:off x="3383280" y="4480560"/>
            <a:ext cx="3291840" cy="8229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1296" y="4590288"/>
            <a:ext cx="3035808" cy="640080"/>
          </a:xfrm>
          <a:prstGeom prst="rect">
            <a:avLst/>
          </a:prstGeom>
          <a:noFill/>
        </p:spPr>
        <p:txBody>
          <a:bodyPr wrap="none" lIns="0" rIns="0" tIns="0" bIns="0">
            <a:spAutoFit/>
          </a:bodyPr>
          <a:lstStyle/>
          <a:p>
            <a:pPr>
              <a:lnSpc>
                <a:spcPct val="116000"/>
              </a:lnSpc>
              <a:spcBef>
                <a:spcPts val="0"/>
              </a:spcBef>
              <a:spcAft>
                <a:spcPts val="0"/>
              </a:spcAft>
              <a:defRPr sz="1750" b="1">
                <a:solidFill>
                  <a:srgbClr val="142438"/>
                </a:solidFill>
                <a:latin typeface="Arial"/>
              </a:defRPr>
            </a:pPr>
            <a:r>
              <a:t>Не менять модель</a:t>
            </a:r>
          </a:p>
          <a:p>
            <a:pPr>
              <a:lnSpc>
                <a:spcPct val="116000"/>
              </a:lnSpc>
              <a:spcBef>
                <a:spcPts val="0"/>
              </a:spcBef>
              <a:spcAft>
                <a:spcPts val="0"/>
              </a:spcAft>
              <a:defRPr sz="1750" b="1">
                <a:solidFill>
                  <a:srgbClr val="142438"/>
                </a:solidFill>
                <a:latin typeface="Arial"/>
              </a:defRPr>
            </a:pPr>
            <a:r>
              <a:t>или использовать правила</a:t>
            </a:r>
          </a:p>
        </p:txBody>
      </p:sp>
      <p:sp>
        <p:nvSpPr>
          <p:cNvPr id="24" name="Rounded Rectangle 23"/>
          <p:cNvSpPr/>
          <p:nvPr/>
        </p:nvSpPr>
        <p:spPr>
          <a:xfrm>
            <a:off x="7680960" y="4480560"/>
            <a:ext cx="3931920" cy="82296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08976" y="4590288"/>
            <a:ext cx="3675887" cy="64008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Неприменима / недоступна</a:t>
            </a:r>
          </a:p>
          <a:p>
            <a:pPr>
              <a:lnSpc>
                <a:spcPct val="116000"/>
              </a:lnSpc>
              <a:spcBef>
                <a:spcPts val="0"/>
              </a:spcBef>
              <a:spcAft>
                <a:spcPts val="0"/>
              </a:spcAft>
              <a:defRPr sz="1800" b="1">
                <a:solidFill>
                  <a:srgbClr val="142438"/>
                </a:solidFill>
                <a:latin typeface="Arial"/>
              </a:defRPr>
            </a:pPr>
            <a:r>
              <a:t>→ советы правил</a:t>
            </a:r>
          </a:p>
        </p:txBody>
      </p:sp>
      <p:sp>
        <p:nvSpPr>
          <p:cNvPr id="26" name="Rounded Rectangle 25"/>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Победитель сохраняется как готовая модель; тест используется для отчёта, не для выбора.</a:t>
            </a:r>
          </a:p>
        </p:txBody>
      </p:sp>
      <p:sp>
        <p:nvSpPr>
          <p:cNvPr id="28" name="Rectangle 27"/>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0" name="TextBox 29"/>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ОШИБКА ПРОГНОЗА ПРОДАЖ</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Текущий результат: победила RandomForest</a:t>
            </a:r>
          </a:p>
        </p:txBody>
      </p:sp>
      <p:sp>
        <p:nvSpPr>
          <p:cNvPr id="5" name="TextBox 4"/>
          <p:cNvSpPr txBox="1"/>
          <p:nvPr/>
        </p:nvSpPr>
        <p:spPr>
          <a:xfrm>
            <a:off x="548640" y="1847088"/>
            <a:ext cx="11064240" cy="393192"/>
          </a:xfrm>
          <a:prstGeom prst="rect">
            <a:avLst/>
          </a:prstGeom>
          <a:noFill/>
        </p:spPr>
        <p:txBody>
          <a:bodyPr wrap="none" lIns="0" rIns="0" tIns="0" bIns="0">
            <a:spAutoFit/>
          </a:bodyPr>
          <a:lstStyle/>
          <a:p>
            <a:pPr>
              <a:lnSpc>
                <a:spcPct val="116000"/>
              </a:lnSpc>
              <a:spcBef>
                <a:spcPts val="0"/>
              </a:spcBef>
              <a:spcAft>
                <a:spcPts val="0"/>
              </a:spcAft>
              <a:defRPr sz="2100" b="0">
                <a:solidFill>
                  <a:srgbClr val="526579"/>
                </a:solidFill>
                <a:latin typeface="Arial"/>
              </a:defRPr>
            </a:pPr>
            <a:r>
              <a:t>MAE на отложенных тестовых играх: меньше — лучше.</a:t>
            </a:r>
          </a:p>
        </p:txBody>
      </p:sp>
      <p:sp>
        <p:nvSpPr>
          <p:cNvPr id="6" name="TextBox 5"/>
          <p:cNvSpPr txBox="1"/>
          <p:nvPr/>
        </p:nvSpPr>
        <p:spPr>
          <a:xfrm>
            <a:off x="548640" y="2587752"/>
            <a:ext cx="2103120" cy="310896"/>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LastSales</a:t>
            </a:r>
          </a:p>
        </p:txBody>
      </p:sp>
      <p:sp>
        <p:nvSpPr>
          <p:cNvPr id="7" name="Rectangle 6"/>
          <p:cNvSpPr/>
          <p:nvPr/>
        </p:nvSpPr>
        <p:spPr>
          <a:xfrm>
            <a:off x="2743200" y="2551176"/>
            <a:ext cx="6714540" cy="365760"/>
          </a:xfrm>
          <a:prstGeom prst="rect">
            <a:avLst/>
          </a:prstGeom>
          <a:solidFill>
            <a:srgbClr val="90A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85756" y="2587752"/>
            <a:ext cx="914400" cy="329184"/>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16,522</a:t>
            </a:r>
          </a:p>
        </p:txBody>
      </p:sp>
      <p:sp>
        <p:nvSpPr>
          <p:cNvPr id="9" name="TextBox 8"/>
          <p:cNvSpPr txBox="1"/>
          <p:nvPr/>
        </p:nvSpPr>
        <p:spPr>
          <a:xfrm>
            <a:off x="548640" y="3127248"/>
            <a:ext cx="2103120" cy="310896"/>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Ridge</a:t>
            </a:r>
          </a:p>
        </p:txBody>
      </p:sp>
      <p:sp>
        <p:nvSpPr>
          <p:cNvPr id="10" name="Rectangle 9"/>
          <p:cNvSpPr/>
          <p:nvPr/>
        </p:nvSpPr>
        <p:spPr>
          <a:xfrm>
            <a:off x="2743200" y="3090672"/>
            <a:ext cx="4605324" cy="365760"/>
          </a:xfrm>
          <a:prstGeom prst="rect">
            <a:avLst/>
          </a:prstGeom>
          <a:solidFill>
            <a:srgbClr val="90A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6540" y="3127248"/>
            <a:ext cx="914400" cy="329184"/>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11,332</a:t>
            </a:r>
          </a:p>
        </p:txBody>
      </p:sp>
      <p:sp>
        <p:nvSpPr>
          <p:cNvPr id="12" name="TextBox 11"/>
          <p:cNvSpPr txBox="1"/>
          <p:nvPr/>
        </p:nvSpPr>
        <p:spPr>
          <a:xfrm>
            <a:off x="548640" y="3666744"/>
            <a:ext cx="2103120" cy="310896"/>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CatBoost</a:t>
            </a:r>
          </a:p>
        </p:txBody>
      </p:sp>
      <p:sp>
        <p:nvSpPr>
          <p:cNvPr id="13" name="Rectangle 12"/>
          <p:cNvSpPr/>
          <p:nvPr/>
        </p:nvSpPr>
        <p:spPr>
          <a:xfrm>
            <a:off x="2743200" y="3630168"/>
            <a:ext cx="3517391" cy="365760"/>
          </a:xfrm>
          <a:prstGeom prst="rect">
            <a:avLst/>
          </a:prstGeom>
          <a:solidFill>
            <a:srgbClr val="90A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607" y="3666744"/>
            <a:ext cx="914400" cy="329184"/>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8,655</a:t>
            </a:r>
          </a:p>
        </p:txBody>
      </p:sp>
      <p:sp>
        <p:nvSpPr>
          <p:cNvPr id="15" name="TextBox 14"/>
          <p:cNvSpPr txBox="1"/>
          <p:nvPr/>
        </p:nvSpPr>
        <p:spPr>
          <a:xfrm>
            <a:off x="548640" y="4206240"/>
            <a:ext cx="2103120" cy="310896"/>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LightGBM</a:t>
            </a:r>
          </a:p>
        </p:txBody>
      </p:sp>
      <p:sp>
        <p:nvSpPr>
          <p:cNvPr id="16" name="Rectangle 15"/>
          <p:cNvSpPr/>
          <p:nvPr/>
        </p:nvSpPr>
        <p:spPr>
          <a:xfrm>
            <a:off x="2743200" y="4169664"/>
            <a:ext cx="3340608" cy="365760"/>
          </a:xfrm>
          <a:prstGeom prst="rect">
            <a:avLst/>
          </a:prstGeom>
          <a:solidFill>
            <a:srgbClr val="90A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1824" y="4206240"/>
            <a:ext cx="914400" cy="329184"/>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8,220</a:t>
            </a:r>
          </a:p>
        </p:txBody>
      </p:sp>
      <p:sp>
        <p:nvSpPr>
          <p:cNvPr id="18" name="TextBox 17"/>
          <p:cNvSpPr txBox="1"/>
          <p:nvPr/>
        </p:nvSpPr>
        <p:spPr>
          <a:xfrm>
            <a:off x="548640" y="4745736"/>
            <a:ext cx="2103120" cy="310896"/>
          </a:xfrm>
          <a:prstGeom prst="rect">
            <a:avLst/>
          </a:prstGeom>
          <a:noFill/>
        </p:spPr>
        <p:txBody>
          <a:bodyPr wrap="none" lIns="0" rIns="0" tIns="0" bIns="0">
            <a:spAutoFit/>
          </a:bodyPr>
          <a:lstStyle/>
          <a:p>
            <a:pPr>
              <a:lnSpc>
                <a:spcPct val="116000"/>
              </a:lnSpc>
              <a:spcBef>
                <a:spcPts val="0"/>
              </a:spcBef>
              <a:spcAft>
                <a:spcPts val="0"/>
              </a:spcAft>
              <a:defRPr sz="1900" b="1">
                <a:solidFill>
                  <a:srgbClr val="142438"/>
                </a:solidFill>
                <a:latin typeface="Arial"/>
              </a:defRPr>
            </a:pPr>
            <a:r>
              <a:t>RandomForest</a:t>
            </a:r>
          </a:p>
        </p:txBody>
      </p:sp>
      <p:sp>
        <p:nvSpPr>
          <p:cNvPr id="19" name="Rectangle 18"/>
          <p:cNvSpPr/>
          <p:nvPr/>
        </p:nvSpPr>
        <p:spPr>
          <a:xfrm>
            <a:off x="2743200" y="4709160"/>
            <a:ext cx="2856585" cy="365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27801" y="4745736"/>
            <a:ext cx="914400" cy="329184"/>
          </a:xfrm>
          <a:prstGeom prst="rect">
            <a:avLst/>
          </a:prstGeom>
          <a:noFill/>
        </p:spPr>
        <p:txBody>
          <a:bodyPr wrap="none" lIns="0" rIns="0" tIns="0" bIns="0">
            <a:spAutoFit/>
          </a:bodyPr>
          <a:lstStyle/>
          <a:p>
            <a:pPr>
              <a:lnSpc>
                <a:spcPct val="116000"/>
              </a:lnSpc>
              <a:spcBef>
                <a:spcPts val="0"/>
              </a:spcBef>
              <a:spcAft>
                <a:spcPts val="0"/>
              </a:spcAft>
              <a:defRPr sz="1800" b="1">
                <a:solidFill>
                  <a:srgbClr val="087F8C"/>
                </a:solidFill>
                <a:latin typeface="Arial"/>
              </a:defRPr>
            </a:pPr>
            <a:r>
              <a:t>7,029</a:t>
            </a:r>
          </a:p>
        </p:txBody>
      </p:sp>
      <p:sp>
        <p:nvSpPr>
          <p:cNvPr id="21" name="TextBox 20"/>
          <p:cNvSpPr txBox="1"/>
          <p:nvPr/>
        </p:nvSpPr>
        <p:spPr>
          <a:xfrm>
            <a:off x="2743200" y="5321808"/>
            <a:ext cx="8503920" cy="237744"/>
          </a:xfrm>
          <a:prstGeom prst="rect">
            <a:avLst/>
          </a:prstGeom>
          <a:noFill/>
        </p:spPr>
        <p:txBody>
          <a:bodyPr wrap="none" lIns="0" rIns="0" tIns="0" bIns="0">
            <a:spAutoFit/>
          </a:bodyPr>
          <a:lstStyle/>
          <a:p>
            <a:pPr>
              <a:lnSpc>
                <a:spcPct val="116000"/>
              </a:lnSpc>
              <a:spcBef>
                <a:spcPts val="0"/>
              </a:spcBef>
              <a:spcAft>
                <a:spcPts val="0"/>
              </a:spcAft>
              <a:defRPr sz="1300" b="0">
                <a:solidFill>
                  <a:srgbClr val="526579"/>
                </a:solidFill>
                <a:latin typeface="Arial"/>
              </a:defRPr>
            </a:pPr>
            <a:r>
              <a:t>Тест: 431 игра · 25 494 цикла · единицы товара</a:t>
            </a:r>
          </a:p>
        </p:txBody>
      </p:sp>
      <p:sp>
        <p:nvSpPr>
          <p:cNvPr id="22" name="Rounded Rectangle 21"/>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7,029 против 16,522 у LastSales: ошибка меньше примерно на 57,5%.</a:t>
            </a:r>
          </a:p>
        </p:txBody>
      </p:sp>
      <p:sp>
        <p:nvSpPr>
          <p:cNvPr id="24" name="Rectangle 23"/>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6" name="TextBox 25"/>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ПРОВЕРКА ДЕНЕЖНОГО ЭФФЕКТА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Итерации 3–4 · Парная оценка стратегии</a:t>
            </a:r>
          </a:p>
        </p:txBody>
      </p:sp>
      <p:sp>
        <p:nvSpPr>
          <p:cNvPr id="5" name="TextBox 4"/>
          <p:cNvSpPr txBox="1"/>
          <p:nvPr/>
        </p:nvSpPr>
        <p:spPr>
          <a:xfrm>
            <a:off x="548640" y="1865376"/>
            <a:ext cx="11064240" cy="713232"/>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Одинаковые seed, рынок и политики остальных ботов. Сравниваем итог после</a:t>
            </a:r>
          </a:p>
          <a:p>
            <a:pPr>
              <a:lnSpc>
                <a:spcPct val="116000"/>
              </a:lnSpc>
              <a:spcBef>
                <a:spcPts val="0"/>
              </a:spcBef>
              <a:spcAft>
                <a:spcPts val="0"/>
              </a:spcAft>
              <a:defRPr sz="2200" b="0">
                <a:solidFill>
                  <a:srgbClr val="526579"/>
                </a:solidFill>
                <a:latin typeface="Arial"/>
              </a:defRPr>
            </a:pPr>
            <a:r>
              <a:t>долгов.</a:t>
            </a:r>
          </a:p>
        </p:txBody>
      </p:sp>
      <p:sp>
        <p:nvSpPr>
          <p:cNvPr id="6" name="Rounded Rectangle 5"/>
          <p:cNvSpPr/>
          <p:nvPr/>
        </p:nvSpPr>
        <p:spPr>
          <a:xfrm>
            <a:off x="548640" y="2743200"/>
            <a:ext cx="5394960" cy="190195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962656"/>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82112"/>
            <a:ext cx="4992624"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Игра A · правила</a:t>
            </a:r>
          </a:p>
        </p:txBody>
      </p:sp>
      <p:sp>
        <p:nvSpPr>
          <p:cNvPr id="9" name="TextBox 8"/>
          <p:cNvSpPr txBox="1"/>
          <p:nvPr/>
        </p:nvSpPr>
        <p:spPr>
          <a:xfrm>
            <a:off x="749808" y="3895344"/>
            <a:ext cx="4992624" cy="603504"/>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Первый бот выбирает по алгоритму</a:t>
            </a:r>
          </a:p>
          <a:p>
            <a:pPr>
              <a:lnSpc>
                <a:spcPct val="116000"/>
              </a:lnSpc>
              <a:spcBef>
                <a:spcPts val="0"/>
              </a:spcBef>
              <a:spcAft>
                <a:spcPts val="0"/>
              </a:spcAft>
              <a:defRPr sz="1900" b="0">
                <a:solidFill>
                  <a:srgbClr val="526579"/>
                </a:solidFill>
                <a:latin typeface="Arial"/>
              </a:defRPr>
            </a:pPr>
            <a:r>
              <a:t>правил.</a:t>
            </a:r>
          </a:p>
        </p:txBody>
      </p:sp>
      <p:sp>
        <p:nvSpPr>
          <p:cNvPr id="10" name="Rounded Rectangle 9"/>
          <p:cNvSpPr/>
          <p:nvPr/>
        </p:nvSpPr>
        <p:spPr>
          <a:xfrm>
            <a:off x="6217920" y="2743200"/>
            <a:ext cx="5394960" cy="190195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19088" y="2962656"/>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3182112"/>
            <a:ext cx="4992624"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Игра B · модель</a:t>
            </a:r>
          </a:p>
        </p:txBody>
      </p:sp>
      <p:sp>
        <p:nvSpPr>
          <p:cNvPr id="13" name="TextBox 12"/>
          <p:cNvSpPr txBox="1"/>
          <p:nvPr/>
        </p:nvSpPr>
        <p:spPr>
          <a:xfrm>
            <a:off x="6419088" y="3895344"/>
            <a:ext cx="4992624" cy="603504"/>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Первый бот использует применимые</a:t>
            </a:r>
          </a:p>
          <a:p>
            <a:pPr>
              <a:lnSpc>
                <a:spcPct val="116000"/>
              </a:lnSpc>
              <a:spcBef>
                <a:spcPts val="0"/>
              </a:spcBef>
              <a:spcAft>
                <a:spcPts val="0"/>
              </a:spcAft>
              <a:defRPr sz="1900" b="0">
                <a:solidFill>
                  <a:srgbClr val="526579"/>
                </a:solidFill>
                <a:latin typeface="Arial"/>
              </a:defRPr>
            </a:pPr>
            <a:r>
              <a:t>рекомендации модели.</a:t>
            </a:r>
          </a:p>
        </p:txBody>
      </p:sp>
      <p:sp>
        <p:nvSpPr>
          <p:cNvPr id="14" name="TextBox 13"/>
          <p:cNvSpPr txBox="1"/>
          <p:nvPr/>
        </p:nvSpPr>
        <p:spPr>
          <a:xfrm>
            <a:off x="548640" y="4928616"/>
            <a:ext cx="11064240" cy="411480"/>
          </a:xfrm>
          <a:prstGeom prst="rect">
            <a:avLst/>
          </a:prstGeom>
          <a:noFill/>
        </p:spPr>
        <p:txBody>
          <a:bodyPr wrap="none" lIns="0" rIns="0" tIns="0" bIns="0">
            <a:spAutoFit/>
          </a:bodyPr>
          <a:lstStyle/>
          <a:p>
            <a:pPr>
              <a:lnSpc>
                <a:spcPct val="116000"/>
              </a:lnSpc>
              <a:spcBef>
                <a:spcPts val="0"/>
              </a:spcBef>
              <a:spcAft>
                <a:spcPts val="0"/>
              </a:spcAft>
              <a:defRPr sz="2100" b="1">
                <a:solidFill>
                  <a:srgbClr val="087F8C"/>
                </a:solidFill>
                <a:latin typeface="Arial"/>
              </a:defRPr>
            </a:pPr>
            <a:r>
              <a:t>Δ = деньги после долгов модели − деньги после долгов правил</a:t>
            </a:r>
          </a:p>
        </p:txBody>
      </p:sp>
      <p:sp>
        <p:nvSpPr>
          <p:cNvPr id="15" name="Rounded Rectangle 14"/>
          <p:cNvSpPr/>
          <p:nvPr/>
        </p:nvSpPr>
        <p:spPr>
          <a:xfrm>
            <a:off x="548640" y="5650992"/>
            <a:ext cx="11064240" cy="576072"/>
          </a:xfrm>
          <a:prstGeom prst="roundRect">
            <a:avLst>
              <a:gd name="adj" fmla="val 8000"/>
            </a:avLst>
          </a:prstGeom>
          <a:solidFill>
            <a:srgbClr val="FFF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AA6520"/>
                </a:solidFill>
                <a:latin typeface="Arial"/>
              </a:defRPr>
            </a:pPr>
            <a:r>
              <a:t>Исторический пилот CatBoost: 20 полных пар, 11 побед, средняя разница −15,97.</a:t>
            </a:r>
          </a:p>
        </p:txBody>
      </p:sp>
      <p:sp>
        <p:nvSpPr>
          <p:cNvPr id="17" name="Rectangle 16"/>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19" name="TextBox 18"/>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КАК ПРОВЕРИТЬ РЕЗУЛЬТАТ</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Итерация 4 · Аналитика и след решений</a:t>
            </a:r>
          </a:p>
        </p:txBody>
      </p:sp>
      <p:sp>
        <p:nvSpPr>
          <p:cNvPr id="5" name="TextBox 4"/>
          <p:cNvSpPr txBox="1"/>
          <p:nvPr/>
        </p:nvSpPr>
        <p:spPr>
          <a:xfrm>
            <a:off x="548640" y="1865376"/>
            <a:ext cx="11064240" cy="704088"/>
          </a:xfrm>
          <a:prstGeom prst="rect">
            <a:avLst/>
          </a:prstGeom>
          <a:noFill/>
        </p:spPr>
        <p:txBody>
          <a:bodyPr wrap="none" lIns="0" rIns="0" tIns="0" bIns="0">
            <a:spAutoFit/>
          </a:bodyPr>
          <a:lstStyle/>
          <a:p>
            <a:pPr>
              <a:lnSpc>
                <a:spcPct val="116000"/>
              </a:lnSpc>
              <a:spcBef>
                <a:spcPts val="0"/>
              </a:spcBef>
              <a:spcAft>
                <a:spcPts val="0"/>
              </a:spcAft>
              <a:defRPr sz="2200" b="0">
                <a:solidFill>
                  <a:srgbClr val="526579"/>
                </a:solidFill>
                <a:latin typeface="Arial"/>
              </a:defRPr>
            </a:pPr>
            <a:r>
              <a:t>Есть административные страницы, JSON-отчёты и история запусков.</a:t>
            </a:r>
          </a:p>
        </p:txBody>
      </p:sp>
      <p:sp>
        <p:nvSpPr>
          <p:cNvPr id="6" name="Rounded Rectangle 5"/>
          <p:cNvSpPr/>
          <p:nvPr/>
        </p:nvSpPr>
        <p:spPr>
          <a:xfrm>
            <a:off x="548640"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Игра и решение</a:t>
            </a:r>
          </a:p>
        </p:txBody>
      </p:sp>
      <p:sp>
        <p:nvSpPr>
          <p:cNvPr id="9" name="TextBox 8"/>
          <p:cNvSpPr txBox="1"/>
          <p:nvPr/>
        </p:nvSpPr>
        <p:spPr>
          <a:xfrm>
            <a:off x="749808"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Снимок до действия,</a:t>
            </a:r>
          </a:p>
          <a:p>
            <a:pPr>
              <a:lnSpc>
                <a:spcPct val="116000"/>
              </a:lnSpc>
              <a:spcBef>
                <a:spcPts val="0"/>
              </a:spcBef>
              <a:spcAft>
                <a:spcPts val="0"/>
              </a:spcAft>
              <a:defRPr sz="1900" b="0">
                <a:solidFill>
                  <a:srgbClr val="526579"/>
                </a:solidFill>
                <a:latin typeface="Arial"/>
              </a:defRPr>
            </a:pPr>
            <a:r>
              <a:t>карточки, выбранный план,</a:t>
            </a:r>
          </a:p>
          <a:p>
            <a:pPr>
              <a:lnSpc>
                <a:spcPct val="116000"/>
              </a:lnSpc>
              <a:spcBef>
                <a:spcPts val="0"/>
              </a:spcBef>
              <a:spcAft>
                <a:spcPts val="0"/>
              </a:spcAft>
              <a:defRPr sz="1900" b="0">
                <a:solidFill>
                  <a:srgbClr val="526579"/>
                </a:solidFill>
                <a:latin typeface="Arial"/>
              </a:defRPr>
            </a:pPr>
            <a:r>
              <a:t>принятие или отказ.</a:t>
            </a:r>
          </a:p>
        </p:txBody>
      </p:sp>
      <p:sp>
        <p:nvSpPr>
          <p:cNvPr id="10" name="Rounded Rectangle 9"/>
          <p:cNvSpPr/>
          <p:nvPr/>
        </p:nvSpPr>
        <p:spPr>
          <a:xfrm>
            <a:off x="4303775"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4943"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3"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Обучение</a:t>
            </a:r>
          </a:p>
        </p:txBody>
      </p:sp>
      <p:sp>
        <p:nvSpPr>
          <p:cNvPr id="13" name="TextBox 12"/>
          <p:cNvSpPr txBox="1"/>
          <p:nvPr/>
        </p:nvSpPr>
        <p:spPr>
          <a:xfrm>
            <a:off x="4504943"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Состав выборок, метрики</a:t>
            </a:r>
          </a:p>
          <a:p>
            <a:pPr>
              <a:lnSpc>
                <a:spcPct val="116000"/>
              </a:lnSpc>
              <a:spcBef>
                <a:spcPts val="0"/>
              </a:spcBef>
              <a:spcAft>
                <a:spcPts val="0"/>
              </a:spcAft>
              <a:defRPr sz="1900" b="0">
                <a:solidFill>
                  <a:srgbClr val="526579"/>
                </a:solidFill>
                <a:latin typeface="Arial"/>
              </a:defRPr>
            </a:pPr>
            <a:r>
              <a:t>моделей, срезы ошибок,</a:t>
            </a:r>
          </a:p>
          <a:p>
            <a:pPr>
              <a:lnSpc>
                <a:spcPct val="116000"/>
              </a:lnSpc>
              <a:spcBef>
                <a:spcPts val="0"/>
              </a:spcBef>
              <a:spcAft>
                <a:spcPts val="0"/>
              </a:spcAft>
              <a:defRPr sz="1900" b="0">
                <a:solidFill>
                  <a:srgbClr val="526579"/>
                </a:solidFill>
                <a:latin typeface="Arial"/>
              </a:defRPr>
            </a:pPr>
            <a:r>
              <a:t>версия и хеш артефакта.</a:t>
            </a:r>
          </a:p>
        </p:txBody>
      </p:sp>
      <p:sp>
        <p:nvSpPr>
          <p:cNvPr id="14" name="Rounded Rectangle 13"/>
          <p:cNvSpPr/>
          <p:nvPr/>
        </p:nvSpPr>
        <p:spPr>
          <a:xfrm>
            <a:off x="8058911"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0080"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0080"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Оценочная пара</a:t>
            </a:r>
          </a:p>
        </p:txBody>
      </p:sp>
      <p:sp>
        <p:nvSpPr>
          <p:cNvPr id="17" name="TextBox 16"/>
          <p:cNvSpPr txBox="1"/>
          <p:nvPr/>
        </p:nvSpPr>
        <p:spPr>
          <a:xfrm>
            <a:off x="8260080"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Финансовая разница, доля</a:t>
            </a:r>
          </a:p>
          <a:p>
            <a:pPr>
              <a:lnSpc>
                <a:spcPct val="116000"/>
              </a:lnSpc>
              <a:spcBef>
                <a:spcPts val="0"/>
              </a:spcBef>
              <a:spcAft>
                <a:spcPts val="0"/>
              </a:spcAft>
              <a:defRPr sz="1900" b="0">
                <a:solidFill>
                  <a:srgbClr val="526579"/>
                </a:solidFill>
                <a:latin typeface="Arial"/>
              </a:defRPr>
            </a:pPr>
            <a:r>
              <a:t>побед, интервалы и</a:t>
            </a:r>
          </a:p>
          <a:p>
            <a:pPr>
              <a:lnSpc>
                <a:spcPct val="116000"/>
              </a:lnSpc>
              <a:spcBef>
                <a:spcPts val="0"/>
              </a:spcBef>
              <a:spcAft>
                <a:spcPts val="0"/>
              </a:spcAft>
              <a:defRPr sz="1900" b="0">
                <a:solidFill>
                  <a:srgbClr val="526579"/>
                </a:solidFill>
                <a:latin typeface="Arial"/>
              </a:defRPr>
            </a:pPr>
            <a:r>
              <a:t>причины неприменимости.</a:t>
            </a:r>
          </a:p>
        </p:txBody>
      </p:sp>
      <p:sp>
        <p:nvSpPr>
          <p:cNvPr id="18" name="Rounded Rectangle 17"/>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Новый запуск обучения сохраняется отдельно; старые отчёты не переписываются.</a:t>
            </a:r>
          </a:p>
        </p:txBody>
      </p:sp>
      <p:sp>
        <p:nvSpPr>
          <p:cNvPr id="20" name="Rectangle 19"/>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2" name="TextBox 21"/>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ПЛАН ИССЛЕДОВАНИЯ · ДВА УРОВНЯ ВЫБОРА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Что сравниваем: алгоритм и устройство советчика</a:t>
            </a:r>
          </a:p>
        </p:txBody>
      </p:sp>
      <p:sp>
        <p:nvSpPr>
          <p:cNvPr id="5" name="TextBox 4"/>
          <p:cNvSpPr txBox="1"/>
          <p:nvPr/>
        </p:nvSpPr>
        <p:spPr>
          <a:xfrm>
            <a:off x="548640" y="1837943"/>
            <a:ext cx="11064240" cy="521207"/>
          </a:xfrm>
          <a:prstGeom prst="rect">
            <a:avLst/>
          </a:prstGeom>
          <a:noFill/>
        </p:spPr>
        <p:txBody>
          <a:bodyPr wrap="none" lIns="0" rIns="0" tIns="0" bIns="0">
            <a:spAutoFit/>
          </a:bodyPr>
          <a:lstStyle/>
          <a:p>
            <a:pPr>
              <a:lnSpc>
                <a:spcPct val="116000"/>
              </a:lnSpc>
              <a:spcBef>
                <a:spcPts val="0"/>
              </a:spcBef>
              <a:spcAft>
                <a:spcPts val="0"/>
              </a:spcAft>
              <a:defRPr sz="1800" b="0">
                <a:solidFill>
                  <a:srgbClr val="526579"/>
                </a:solidFill>
                <a:latin typeface="Arial"/>
              </a:defRPr>
            </a:pPr>
            <a:r>
              <a:t>Алгоритм прогноза выбирается внутри архитектуры; архитектура проверяется по результату советов.</a:t>
            </a:r>
          </a:p>
        </p:txBody>
      </p:sp>
      <p:sp>
        <p:nvSpPr>
          <p:cNvPr id="6" name="Rectangle 5"/>
          <p:cNvSpPr/>
          <p:nvPr/>
        </p:nvSpPr>
        <p:spPr>
          <a:xfrm>
            <a:off x="548640" y="2560320"/>
            <a:ext cx="11064240" cy="5303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670048"/>
            <a:ext cx="216712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Устройство</a:t>
            </a:r>
          </a:p>
        </p:txBody>
      </p:sp>
      <p:sp>
        <p:nvSpPr>
          <p:cNvPr id="8" name="TextBox 7"/>
          <p:cNvSpPr txBox="1"/>
          <p:nvPr/>
        </p:nvSpPr>
        <p:spPr>
          <a:xfrm>
            <a:off x="3118104" y="2670048"/>
            <a:ext cx="257860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Прогнозы</a:t>
            </a:r>
          </a:p>
        </p:txBody>
      </p:sp>
      <p:sp>
        <p:nvSpPr>
          <p:cNvPr id="9" name="TextBox 8"/>
          <p:cNvSpPr txBox="1"/>
          <p:nvPr/>
        </p:nvSpPr>
        <p:spPr>
          <a:xfrm>
            <a:off x="5952744" y="2670048"/>
            <a:ext cx="280720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Совместное решение</a:t>
            </a:r>
          </a:p>
        </p:txBody>
      </p:sp>
      <p:sp>
        <p:nvSpPr>
          <p:cNvPr id="10" name="TextBox 9"/>
          <p:cNvSpPr txBox="1"/>
          <p:nvPr/>
        </p:nvSpPr>
        <p:spPr>
          <a:xfrm>
            <a:off x="9015984" y="2670048"/>
            <a:ext cx="2487168" cy="374904"/>
          </a:xfrm>
          <a:prstGeom prst="rect">
            <a:avLst/>
          </a:prstGeom>
          <a:noFill/>
        </p:spPr>
        <p:txBody>
          <a:bodyPr wrap="none" lIns="0" rIns="0" tIns="0" bIns="0">
            <a:spAutoFit/>
          </a:bodyPr>
          <a:lstStyle/>
          <a:p>
            <a:pPr>
              <a:lnSpc>
                <a:spcPct val="116000"/>
              </a:lnSpc>
              <a:spcBef>
                <a:spcPts val="0"/>
              </a:spcBef>
              <a:spcAft>
                <a:spcPts val="0"/>
              </a:spcAft>
              <a:defRPr sz="1650" b="1">
                <a:solidFill>
                  <a:srgbClr val="FFFFFF"/>
                </a:solidFill>
                <a:latin typeface="Arial"/>
              </a:defRPr>
            </a:pPr>
            <a:r>
              <a:t>Статус</a:t>
            </a:r>
          </a:p>
        </p:txBody>
      </p:sp>
      <p:sp>
        <p:nvSpPr>
          <p:cNvPr id="11" name="Rectangle 10"/>
          <p:cNvSpPr/>
          <p:nvPr/>
        </p:nvSpPr>
        <p:spPr>
          <a:xfrm>
            <a:off x="548640" y="3090672"/>
            <a:ext cx="11064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200400"/>
            <a:ext cx="216712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A · правила</a:t>
            </a:r>
          </a:p>
        </p:txBody>
      </p:sp>
      <p:sp>
        <p:nvSpPr>
          <p:cNvPr id="13" name="TextBox 12"/>
          <p:cNvSpPr txBox="1"/>
          <p:nvPr/>
        </p:nvSpPr>
        <p:spPr>
          <a:xfrm>
            <a:off x="3118104" y="3200400"/>
            <a:ext cx="25786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История продаж</a:t>
            </a:r>
          </a:p>
        </p:txBody>
      </p:sp>
      <p:sp>
        <p:nvSpPr>
          <p:cNvPr id="14" name="TextBox 13"/>
          <p:cNvSpPr txBox="1"/>
          <p:nvPr/>
        </p:nvSpPr>
        <p:spPr>
          <a:xfrm>
            <a:off x="5952744" y="3200400"/>
            <a:ext cx="28072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Агенты + формулы</a:t>
            </a:r>
          </a:p>
        </p:txBody>
      </p:sp>
      <p:sp>
        <p:nvSpPr>
          <p:cNvPr id="15" name="TextBox 14"/>
          <p:cNvSpPr txBox="1"/>
          <p:nvPr/>
        </p:nvSpPr>
        <p:spPr>
          <a:xfrm>
            <a:off x="9015984" y="3200400"/>
            <a:ext cx="248716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Работает</a:t>
            </a:r>
          </a:p>
        </p:txBody>
      </p:sp>
      <p:sp>
        <p:nvSpPr>
          <p:cNvPr id="16" name="Rectangle 15"/>
          <p:cNvSpPr/>
          <p:nvPr/>
        </p:nvSpPr>
        <p:spPr>
          <a:xfrm>
            <a:off x="548640" y="3621024"/>
            <a:ext cx="11064240" cy="530352"/>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730752"/>
            <a:ext cx="216712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B · общая ML</a:t>
            </a:r>
          </a:p>
        </p:txBody>
      </p:sp>
      <p:sp>
        <p:nvSpPr>
          <p:cNvPr id="18" name="TextBox 17"/>
          <p:cNvSpPr txBox="1"/>
          <p:nvPr/>
        </p:nvSpPr>
        <p:spPr>
          <a:xfrm>
            <a:off x="3118104" y="3730752"/>
            <a:ext cx="25786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Одна задача: продажи</a:t>
            </a:r>
          </a:p>
        </p:txBody>
      </p:sp>
      <p:sp>
        <p:nvSpPr>
          <p:cNvPr id="19" name="TextBox 18"/>
          <p:cNvSpPr txBox="1"/>
          <p:nvPr/>
        </p:nvSpPr>
        <p:spPr>
          <a:xfrm>
            <a:off x="5952744" y="3730752"/>
            <a:ext cx="28072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Агенты + прогноз + деньги</a:t>
            </a:r>
          </a:p>
        </p:txBody>
      </p:sp>
      <p:sp>
        <p:nvSpPr>
          <p:cNvPr id="20" name="TextBox 19"/>
          <p:cNvSpPr txBox="1"/>
          <p:nvPr/>
        </p:nvSpPr>
        <p:spPr>
          <a:xfrm>
            <a:off x="9015984" y="3730752"/>
            <a:ext cx="248716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Работает</a:t>
            </a:r>
          </a:p>
        </p:txBody>
      </p:sp>
      <p:sp>
        <p:nvSpPr>
          <p:cNvPr id="21" name="Rectangle 20"/>
          <p:cNvSpPr/>
          <p:nvPr/>
        </p:nvSpPr>
        <p:spPr>
          <a:xfrm>
            <a:off x="548640" y="4151375"/>
            <a:ext cx="11064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4261103"/>
            <a:ext cx="216712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C · отдельные ML</a:t>
            </a:r>
          </a:p>
        </p:txBody>
      </p:sp>
      <p:sp>
        <p:nvSpPr>
          <p:cNvPr id="23" name="TextBox 22"/>
          <p:cNvSpPr txBox="1"/>
          <p:nvPr/>
        </p:nvSpPr>
        <p:spPr>
          <a:xfrm>
            <a:off x="3118104" y="4261103"/>
            <a:ext cx="25786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Несколько задач агентов</a:t>
            </a:r>
          </a:p>
        </p:txBody>
      </p:sp>
      <p:sp>
        <p:nvSpPr>
          <p:cNvPr id="24" name="TextBox 23"/>
          <p:cNvSpPr txBox="1"/>
          <p:nvPr/>
        </p:nvSpPr>
        <p:spPr>
          <a:xfrm>
            <a:off x="5952744" y="4261103"/>
            <a:ext cx="280720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Координатор ограничений</a:t>
            </a:r>
          </a:p>
        </p:txBody>
      </p:sp>
      <p:sp>
        <p:nvSpPr>
          <p:cNvPr id="25" name="TextBox 24"/>
          <p:cNvSpPr txBox="1"/>
          <p:nvPr/>
        </p:nvSpPr>
        <p:spPr>
          <a:xfrm>
            <a:off x="9015984" y="4261103"/>
            <a:ext cx="2487168" cy="374904"/>
          </a:xfrm>
          <a:prstGeom prst="rect">
            <a:avLst/>
          </a:prstGeom>
          <a:noFill/>
        </p:spPr>
        <p:txBody>
          <a:bodyPr wrap="none" lIns="0" rIns="0" tIns="0" bIns="0">
            <a:spAutoFit/>
          </a:bodyPr>
          <a:lstStyle/>
          <a:p>
            <a:pPr>
              <a:lnSpc>
                <a:spcPct val="116000"/>
              </a:lnSpc>
              <a:spcBef>
                <a:spcPts val="0"/>
              </a:spcBef>
              <a:spcAft>
                <a:spcPts val="0"/>
              </a:spcAft>
              <a:defRPr sz="1650" b="0">
                <a:solidFill>
                  <a:srgbClr val="142438"/>
                </a:solidFill>
                <a:latin typeface="Arial"/>
              </a:defRPr>
            </a:pPr>
            <a:r>
              <a:t>Гипотеза</a:t>
            </a:r>
          </a:p>
        </p:txBody>
      </p:sp>
      <p:sp>
        <p:nvSpPr>
          <p:cNvPr id="26" name="TextBox 25"/>
          <p:cNvSpPr txBox="1"/>
          <p:nvPr/>
        </p:nvSpPr>
        <p:spPr>
          <a:xfrm>
            <a:off x="548640" y="5038344"/>
            <a:ext cx="11064240" cy="448056"/>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В B и C можно проверять разные алгоритмы. C требует новых меток обучения.</a:t>
            </a:r>
          </a:p>
        </p:txBody>
      </p:sp>
      <p:sp>
        <p:nvSpPr>
          <p:cNvPr id="27" name="Rounded Rectangle 2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Сначала проверяем пользу общей модели, затем — оправданность более сложной архитектуры.</a:t>
            </a:r>
          </a:p>
        </p:txBody>
      </p:sp>
      <p:sp>
        <p:nvSpPr>
          <p:cNvPr id="29" name="Rectangle 2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1" name="TextBox 3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БУДУЩАЯ ГИПОТЕЗА · ПОКА НЕ РЕАЛИЗОВАНО</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Вариант C: отдельные прогнозные задачи агентов</a:t>
            </a:r>
          </a:p>
        </p:txBody>
      </p:sp>
      <p:sp>
        <p:nvSpPr>
          <p:cNvPr id="5" name="Rounded Rectangle 4"/>
          <p:cNvSpPr/>
          <p:nvPr/>
        </p:nvSpPr>
        <p:spPr>
          <a:xfrm>
            <a:off x="3429000" y="2404872"/>
            <a:ext cx="3931920" cy="2926080"/>
          </a:xfrm>
          <a:prstGeom prst="roundRect">
            <a:avLst>
              <a:gd name="adj" fmla="val 8000"/>
            </a:avLst>
          </a:prstGeom>
          <a:solidFill>
            <a:srgbClr val="FFF8E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75304" y="2514600"/>
            <a:ext cx="3639312" cy="256032"/>
          </a:xfrm>
          <a:prstGeom prst="rect">
            <a:avLst/>
          </a:prstGeom>
          <a:noFill/>
        </p:spPr>
        <p:txBody>
          <a:bodyPr wrap="none" lIns="0" rIns="0" tIns="0" bIns="0">
            <a:spAutoFit/>
          </a:bodyPr>
          <a:lstStyle/>
          <a:p>
            <a:pPr>
              <a:lnSpc>
                <a:spcPct val="116000"/>
              </a:lnSpc>
              <a:spcBef>
                <a:spcPts val="0"/>
              </a:spcBef>
              <a:spcAft>
                <a:spcPts val="0"/>
              </a:spcAft>
              <a:defRPr sz="1150" b="1">
                <a:solidFill>
                  <a:srgbClr val="526579"/>
                </a:solidFill>
                <a:latin typeface="Arial"/>
              </a:defRPr>
            </a:pPr>
            <a:r>
              <a:t>ВОЗМОЖНЫЕ СПЕЦИАЛИЗАЦИИ</a:t>
            </a:r>
          </a:p>
        </p:txBody>
      </p:sp>
      <p:cxnSp>
        <p:nvCxnSpPr>
          <p:cNvPr id="7" name="Connector 6"/>
          <p:cNvCxnSpPr/>
          <p:nvPr/>
        </p:nvCxnSpPr>
        <p:spPr>
          <a:xfrm flipV="1">
            <a:off x="2743200" y="3168396"/>
            <a:ext cx="914400" cy="717804"/>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43200" y="3886200"/>
            <a:ext cx="914400" cy="86868"/>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43200" y="3886200"/>
            <a:ext cx="914400" cy="955548"/>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132320" y="3168396"/>
            <a:ext cx="1097280" cy="713232"/>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132320" y="3881628"/>
            <a:ext cx="1097280" cy="91440"/>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132320" y="3881628"/>
            <a:ext cx="1097280" cy="960120"/>
          </a:xfrm>
          <a:prstGeom prst="line">
            <a:avLst/>
          </a:prstGeom>
          <a:ln w="20320">
            <a:solidFill>
              <a:srgbClr val="AA652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429000"/>
            <a:ext cx="219456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3538728"/>
            <a:ext cx="1938528"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Доступное</a:t>
            </a:r>
          </a:p>
          <a:p>
            <a:pPr>
              <a:lnSpc>
                <a:spcPct val="116000"/>
              </a:lnSpc>
              <a:spcBef>
                <a:spcPts val="0"/>
              </a:spcBef>
              <a:spcAft>
                <a:spcPts val="0"/>
              </a:spcAft>
              <a:defRPr sz="1800" b="1">
                <a:solidFill>
                  <a:srgbClr val="142438"/>
                </a:solidFill>
                <a:latin typeface="Arial"/>
              </a:defRPr>
            </a:pPr>
            <a:r>
              <a:t>состояние</a:t>
            </a:r>
          </a:p>
        </p:txBody>
      </p:sp>
      <p:sp>
        <p:nvSpPr>
          <p:cNvPr id="15" name="Rounded Rectangle 14"/>
          <p:cNvSpPr/>
          <p:nvPr/>
        </p:nvSpPr>
        <p:spPr>
          <a:xfrm>
            <a:off x="3657600" y="2907792"/>
            <a:ext cx="3474720" cy="521207"/>
          </a:xfrm>
          <a:prstGeom prst="roundRect">
            <a:avLst>
              <a:gd name="adj" fmla="val 8000"/>
            </a:avLst>
          </a:prstGeom>
          <a:solidFill>
            <a:srgbClr val="FFF2E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85615" y="3017520"/>
            <a:ext cx="3218687" cy="338327"/>
          </a:xfrm>
          <a:prstGeom prst="rect">
            <a:avLst/>
          </a:prstGeom>
          <a:noFill/>
        </p:spPr>
        <p:txBody>
          <a:bodyPr wrap="none" lIns="0" rIns="0" tIns="0" bIns="0">
            <a:spAutoFit/>
          </a:bodyPr>
          <a:lstStyle/>
          <a:p>
            <a:pPr>
              <a:lnSpc>
                <a:spcPct val="116000"/>
              </a:lnSpc>
              <a:spcBef>
                <a:spcPts val="0"/>
              </a:spcBef>
              <a:spcAft>
                <a:spcPts val="0"/>
              </a:spcAft>
              <a:defRPr sz="1700" b="1">
                <a:solidFill>
                  <a:srgbClr val="AA6520"/>
                </a:solidFill>
                <a:latin typeface="Arial"/>
              </a:defRPr>
            </a:pPr>
            <a:r>
              <a:t>Рынок · продажи</a:t>
            </a:r>
          </a:p>
        </p:txBody>
      </p:sp>
      <p:sp>
        <p:nvSpPr>
          <p:cNvPr id="17" name="Rounded Rectangle 16"/>
          <p:cNvSpPr/>
          <p:nvPr/>
        </p:nvSpPr>
        <p:spPr>
          <a:xfrm>
            <a:off x="3657600" y="3675887"/>
            <a:ext cx="3474720" cy="594360"/>
          </a:xfrm>
          <a:prstGeom prst="roundRect">
            <a:avLst>
              <a:gd name="adj" fmla="val 8000"/>
            </a:avLst>
          </a:prstGeom>
          <a:solidFill>
            <a:srgbClr val="FFF2E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85615" y="3785615"/>
            <a:ext cx="3218687" cy="411480"/>
          </a:xfrm>
          <a:prstGeom prst="rect">
            <a:avLst/>
          </a:prstGeom>
          <a:noFill/>
        </p:spPr>
        <p:txBody>
          <a:bodyPr wrap="none" lIns="0" rIns="0" tIns="0" bIns="0">
            <a:spAutoFit/>
          </a:bodyPr>
          <a:lstStyle/>
          <a:p>
            <a:pPr>
              <a:lnSpc>
                <a:spcPct val="116000"/>
              </a:lnSpc>
              <a:spcBef>
                <a:spcPts val="0"/>
              </a:spcBef>
              <a:spcAft>
                <a:spcPts val="0"/>
              </a:spcAft>
              <a:defRPr sz="1700" b="1">
                <a:solidFill>
                  <a:srgbClr val="AA6520"/>
                </a:solidFill>
                <a:latin typeface="Arial"/>
              </a:defRPr>
            </a:pPr>
            <a:r>
              <a:t>Выпуск · дефицит / остаток</a:t>
            </a:r>
          </a:p>
        </p:txBody>
      </p:sp>
      <p:sp>
        <p:nvSpPr>
          <p:cNvPr id="19" name="Rounded Rectangle 18"/>
          <p:cNvSpPr/>
          <p:nvPr/>
        </p:nvSpPr>
        <p:spPr>
          <a:xfrm>
            <a:off x="3657600" y="4544568"/>
            <a:ext cx="3474720" cy="594360"/>
          </a:xfrm>
          <a:prstGeom prst="roundRect">
            <a:avLst>
              <a:gd name="adj" fmla="val 8000"/>
            </a:avLst>
          </a:prstGeom>
          <a:solidFill>
            <a:srgbClr val="FFF2E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5615" y="4654296"/>
            <a:ext cx="3218687" cy="411480"/>
          </a:xfrm>
          <a:prstGeom prst="rect">
            <a:avLst/>
          </a:prstGeom>
          <a:noFill/>
        </p:spPr>
        <p:txBody>
          <a:bodyPr wrap="none" lIns="0" rIns="0" tIns="0" bIns="0">
            <a:spAutoFit/>
          </a:bodyPr>
          <a:lstStyle/>
          <a:p>
            <a:pPr>
              <a:lnSpc>
                <a:spcPct val="116000"/>
              </a:lnSpc>
              <a:spcBef>
                <a:spcPts val="0"/>
              </a:spcBef>
              <a:spcAft>
                <a:spcPts val="0"/>
              </a:spcAft>
              <a:defRPr sz="1700" b="1">
                <a:solidFill>
                  <a:srgbClr val="AA6520"/>
                </a:solidFill>
                <a:latin typeface="Arial"/>
              </a:defRPr>
            </a:pPr>
            <a:r>
              <a:t>Финансы · нехватка денег</a:t>
            </a:r>
          </a:p>
        </p:txBody>
      </p:sp>
      <p:sp>
        <p:nvSpPr>
          <p:cNvPr id="21" name="Rounded Rectangle 20"/>
          <p:cNvSpPr/>
          <p:nvPr/>
        </p:nvSpPr>
        <p:spPr>
          <a:xfrm>
            <a:off x="8229600" y="3319272"/>
            <a:ext cx="3383280" cy="1124712"/>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7616" y="3429000"/>
            <a:ext cx="3127248" cy="941832"/>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Координатор</a:t>
            </a:r>
          </a:p>
          <a:p>
            <a:pPr>
              <a:lnSpc>
                <a:spcPct val="116000"/>
              </a:lnSpc>
              <a:spcBef>
                <a:spcPts val="0"/>
              </a:spcBef>
              <a:spcAft>
                <a:spcPts val="0"/>
              </a:spcAft>
              <a:defRPr sz="1800" b="1">
                <a:solidFill>
                  <a:srgbClr val="142438"/>
                </a:solidFill>
                <a:latin typeface="Arial"/>
              </a:defRPr>
            </a:pPr>
            <a:r>
              <a:t>согласование</a:t>
            </a:r>
          </a:p>
          <a:p>
            <a:pPr>
              <a:lnSpc>
                <a:spcPct val="116000"/>
              </a:lnSpc>
              <a:spcBef>
                <a:spcPts val="0"/>
              </a:spcBef>
              <a:spcAft>
                <a:spcPts val="0"/>
              </a:spcAft>
              <a:defRPr sz="1800" b="1">
                <a:solidFill>
                  <a:srgbClr val="142438"/>
                </a:solidFill>
                <a:latin typeface="Arial"/>
              </a:defRPr>
            </a:pPr>
            <a:r>
              <a:t>и ограничения</a:t>
            </a:r>
          </a:p>
        </p:txBody>
      </p:sp>
      <p:sp>
        <p:nvSpPr>
          <p:cNvPr id="23" name="Rounded Rectangle 22"/>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Роль агента определяет задачу; алгоритм её модели выбирается отдельно по эксперименту.</a:t>
            </a:r>
          </a:p>
        </p:txBody>
      </p:sp>
      <p:sp>
        <p:nvSpPr>
          <p:cNvPr id="25" name="Rectangle 24"/>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7" name="TextBox 26"/>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ПЛАН · СОПОСТАВИМЫЕ ЭКСПЕРИМЕНТЫ</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выбрать устройство для конечной реализации</a:t>
            </a:r>
          </a:p>
        </p:txBody>
      </p:sp>
      <p:sp>
        <p:nvSpPr>
          <p:cNvPr id="5" name="Rounded Rectangle 4"/>
          <p:cNvSpPr/>
          <p:nvPr/>
        </p:nvSpPr>
        <p:spPr>
          <a:xfrm>
            <a:off x="548640"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Одинаковые условия</a:t>
            </a:r>
          </a:p>
        </p:txBody>
      </p:sp>
      <p:sp>
        <p:nvSpPr>
          <p:cNvPr id="8" name="TextBox 7"/>
          <p:cNvSpPr txBox="1"/>
          <p:nvPr/>
        </p:nvSpPr>
        <p:spPr>
          <a:xfrm>
            <a:off x="749808"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Новые seed и рынки. Одни</a:t>
            </a:r>
          </a:p>
          <a:p>
            <a:pPr>
              <a:lnSpc>
                <a:spcPct val="116000"/>
              </a:lnSpc>
              <a:spcBef>
                <a:spcPts val="0"/>
              </a:spcBef>
              <a:spcAft>
                <a:spcPts val="0"/>
              </a:spcAft>
              <a:defRPr sz="1900" b="0">
                <a:solidFill>
                  <a:srgbClr val="526579"/>
                </a:solidFill>
                <a:latin typeface="Arial"/>
              </a:defRPr>
            </a:pPr>
            <a:r>
              <a:t>ограничения и доступные</a:t>
            </a:r>
          </a:p>
          <a:p>
            <a:pPr>
              <a:lnSpc>
                <a:spcPct val="116000"/>
              </a:lnSpc>
              <a:spcBef>
                <a:spcPts val="0"/>
              </a:spcBef>
              <a:spcAft>
                <a:spcPts val="0"/>
              </a:spcAft>
              <a:defRPr sz="1900" b="0">
                <a:solidFill>
                  <a:srgbClr val="526579"/>
                </a:solidFill>
                <a:latin typeface="Arial"/>
              </a:defRPr>
            </a:pPr>
            <a:r>
              <a:t>сведения для всех</a:t>
            </a:r>
          </a:p>
          <a:p>
            <a:pPr>
              <a:lnSpc>
                <a:spcPct val="116000"/>
              </a:lnSpc>
              <a:spcBef>
                <a:spcPts val="0"/>
              </a:spcBef>
              <a:spcAft>
                <a:spcPts val="0"/>
              </a:spcAft>
              <a:defRPr sz="1900" b="0">
                <a:solidFill>
                  <a:srgbClr val="526579"/>
                </a:solidFill>
                <a:latin typeface="Arial"/>
              </a:defRPr>
            </a:pPr>
            <a:r>
              <a:t>вариантов.</a:t>
            </a:r>
          </a:p>
        </p:txBody>
      </p:sp>
      <p:sp>
        <p:nvSpPr>
          <p:cNvPr id="9" name="Rounded Rectangle 8"/>
          <p:cNvSpPr/>
          <p:nvPr/>
        </p:nvSpPr>
        <p:spPr>
          <a:xfrm>
            <a:off x="4303775"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04943"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4943"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Измеримый вклад</a:t>
            </a:r>
          </a:p>
        </p:txBody>
      </p:sp>
      <p:sp>
        <p:nvSpPr>
          <p:cNvPr id="12" name="TextBox 11"/>
          <p:cNvSpPr txBox="1"/>
          <p:nvPr/>
        </p:nvSpPr>
        <p:spPr>
          <a:xfrm>
            <a:off x="4504943"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Сравнить правила, общую</a:t>
            </a:r>
          </a:p>
          <a:p>
            <a:pPr>
              <a:lnSpc>
                <a:spcPct val="116000"/>
              </a:lnSpc>
              <a:spcBef>
                <a:spcPts val="0"/>
              </a:spcBef>
              <a:spcAft>
                <a:spcPts val="0"/>
              </a:spcAft>
              <a:defRPr sz="1900" b="0">
                <a:solidFill>
                  <a:srgbClr val="526579"/>
                </a:solidFill>
                <a:latin typeface="Arial"/>
              </a:defRPr>
            </a:pPr>
            <a:r>
              <a:t>ML и отдельные блоки.</a:t>
            </a:r>
          </a:p>
          <a:p>
            <a:pPr>
              <a:lnSpc>
                <a:spcPct val="116000"/>
              </a:lnSpc>
              <a:spcBef>
                <a:spcPts val="0"/>
              </a:spcBef>
              <a:spcAft>
                <a:spcPts val="0"/>
              </a:spcAft>
              <a:defRPr sz="1900" b="0">
                <a:solidFill>
                  <a:srgbClr val="526579"/>
                </a:solidFill>
                <a:latin typeface="Arial"/>
              </a:defRPr>
            </a:pPr>
            <a:r>
              <a:t>Проверить деньги, риск и</a:t>
            </a:r>
          </a:p>
          <a:p>
            <a:pPr>
              <a:lnSpc>
                <a:spcPct val="116000"/>
              </a:lnSpc>
              <a:spcBef>
                <a:spcPts val="0"/>
              </a:spcBef>
              <a:spcAft>
                <a:spcPts val="0"/>
              </a:spcAft>
              <a:defRPr sz="1900" b="0">
                <a:solidFill>
                  <a:srgbClr val="526579"/>
                </a:solidFill>
                <a:latin typeface="Arial"/>
              </a:defRPr>
            </a:pPr>
            <a:r>
              <a:t>применимость.</a:t>
            </a:r>
          </a:p>
        </p:txBody>
      </p:sp>
      <p:sp>
        <p:nvSpPr>
          <p:cNvPr id="13" name="Rounded Rectangle 12"/>
          <p:cNvSpPr/>
          <p:nvPr/>
        </p:nvSpPr>
        <p:spPr>
          <a:xfrm>
            <a:off x="8058911" y="2706624"/>
            <a:ext cx="3553968" cy="26151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60080" y="2926080"/>
            <a:ext cx="384048" cy="45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0080" y="3145536"/>
            <a:ext cx="3151632" cy="685800"/>
          </a:xfrm>
          <a:prstGeom prst="rect">
            <a:avLst/>
          </a:prstGeom>
          <a:noFill/>
        </p:spPr>
        <p:txBody>
          <a:bodyPr wrap="none" lIns="0" rIns="0" tIns="0" bIns="0">
            <a:spAutoFit/>
          </a:bodyPr>
          <a:lstStyle/>
          <a:p>
            <a:pPr>
              <a:lnSpc>
                <a:spcPct val="116000"/>
              </a:lnSpc>
              <a:spcBef>
                <a:spcPts val="0"/>
              </a:spcBef>
              <a:spcAft>
                <a:spcPts val="0"/>
              </a:spcAft>
              <a:defRPr sz="2100" b="1">
                <a:solidFill>
                  <a:srgbClr val="142438"/>
                </a:solidFill>
                <a:latin typeface="Arial"/>
              </a:defRPr>
            </a:pPr>
            <a:r>
              <a:t>Финальный состав</a:t>
            </a:r>
          </a:p>
        </p:txBody>
      </p:sp>
      <p:sp>
        <p:nvSpPr>
          <p:cNvPr id="16" name="TextBox 15"/>
          <p:cNvSpPr txBox="1"/>
          <p:nvPr/>
        </p:nvSpPr>
        <p:spPr>
          <a:xfrm>
            <a:off x="8260080" y="3858768"/>
            <a:ext cx="3151632" cy="1316736"/>
          </a:xfrm>
          <a:prstGeom prst="rect">
            <a:avLst/>
          </a:prstGeom>
          <a:noFill/>
        </p:spPr>
        <p:txBody>
          <a:bodyPr wrap="none" lIns="0" rIns="0" tIns="0" bIns="0">
            <a:spAutoFit/>
          </a:bodyPr>
          <a:lstStyle/>
          <a:p>
            <a:pPr>
              <a:lnSpc>
                <a:spcPct val="116000"/>
              </a:lnSpc>
              <a:spcBef>
                <a:spcPts val="0"/>
              </a:spcBef>
              <a:spcAft>
                <a:spcPts val="0"/>
              </a:spcAft>
              <a:defRPr sz="1900" b="0">
                <a:solidFill>
                  <a:srgbClr val="526579"/>
                </a:solidFill>
                <a:latin typeface="Arial"/>
              </a:defRPr>
            </a:pPr>
            <a:r>
              <a:t>Оставить компоненты с</a:t>
            </a:r>
          </a:p>
          <a:p>
            <a:pPr>
              <a:lnSpc>
                <a:spcPct val="116000"/>
              </a:lnSpc>
              <a:spcBef>
                <a:spcPts val="0"/>
              </a:spcBef>
              <a:spcAft>
                <a:spcPts val="0"/>
              </a:spcAft>
              <a:defRPr sz="1900" b="0">
                <a:solidFill>
                  <a:srgbClr val="526579"/>
                </a:solidFill>
                <a:latin typeface="Arial"/>
              </a:defRPr>
            </a:pPr>
            <a:r>
              <a:t>подтверждённой пользой.</a:t>
            </a:r>
          </a:p>
          <a:p>
            <a:pPr>
              <a:lnSpc>
                <a:spcPct val="116000"/>
              </a:lnSpc>
              <a:spcBef>
                <a:spcPts val="0"/>
              </a:spcBef>
              <a:spcAft>
                <a:spcPts val="0"/>
              </a:spcAft>
              <a:defRPr sz="1900" b="0">
                <a:solidFill>
                  <a:srgbClr val="526579"/>
                </a:solidFill>
                <a:latin typeface="Arial"/>
              </a:defRPr>
            </a:pPr>
            <a:r>
              <a:t>Не усложнять систему без</a:t>
            </a:r>
          </a:p>
          <a:p>
            <a:pPr>
              <a:lnSpc>
                <a:spcPct val="116000"/>
              </a:lnSpc>
              <a:spcBef>
                <a:spcPts val="0"/>
              </a:spcBef>
              <a:spcAft>
                <a:spcPts val="0"/>
              </a:spcAft>
              <a:defRPr sz="1900" b="0">
                <a:solidFill>
                  <a:srgbClr val="526579"/>
                </a:solidFill>
                <a:latin typeface="Arial"/>
              </a:defRPr>
            </a:pPr>
            <a:r>
              <a:t>эффекта.</a:t>
            </a:r>
          </a:p>
        </p:txBody>
      </p:sp>
      <p:sp>
        <p:nvSpPr>
          <p:cNvPr id="17" name="Rounded Rectangle 1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Выбираем и алгоритм прогноза, и способ объединения агентов; это разные эксперименты.</a:t>
            </a:r>
          </a:p>
        </p:txBody>
      </p:sp>
      <p:sp>
        <p:nvSpPr>
          <p:cNvPr id="19" name="Rectangle 1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1" name="TextBox 2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АДАПТЕР ЕСТЬ · ПОЛНАЯ ПРОВЕРКА ЕЩЁ ВПЕРЕДИ</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LLM интегрируется с агентами</a:t>
            </a:r>
          </a:p>
        </p:txBody>
      </p:sp>
      <p:cxnSp>
        <p:nvCxnSpPr>
          <p:cNvPr id="5" name="Connector 4"/>
          <p:cNvCxnSpPr/>
          <p:nvPr/>
        </p:nvCxnSpPr>
        <p:spPr>
          <a:xfrm>
            <a:off x="3017520" y="3456432"/>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26480" y="3456432"/>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869680" y="3456432"/>
            <a:ext cx="54864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635240" y="3959352"/>
            <a:ext cx="2880360" cy="612648"/>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953512"/>
            <a:ext cx="246888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3063240"/>
            <a:ext cx="221284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Агенты + ML</a:t>
            </a:r>
          </a:p>
          <a:p>
            <a:pPr>
              <a:lnSpc>
                <a:spcPct val="116000"/>
              </a:lnSpc>
              <a:spcBef>
                <a:spcPts val="0"/>
              </a:spcBef>
              <a:spcAft>
                <a:spcPts val="0"/>
              </a:spcAft>
              <a:defRPr sz="1800" b="1">
                <a:solidFill>
                  <a:srgbClr val="142438"/>
                </a:solidFill>
                <a:latin typeface="Arial"/>
              </a:defRPr>
            </a:pPr>
            <a:r>
              <a:t>проверенные</a:t>
            </a:r>
          </a:p>
          <a:p>
            <a:pPr>
              <a:lnSpc>
                <a:spcPct val="116000"/>
              </a:lnSpc>
              <a:spcBef>
                <a:spcPts val="0"/>
              </a:spcBef>
              <a:spcAft>
                <a:spcPts val="0"/>
              </a:spcAft>
              <a:defRPr sz="1800" b="1">
                <a:solidFill>
                  <a:srgbClr val="142438"/>
                </a:solidFill>
                <a:latin typeface="Arial"/>
              </a:defRPr>
            </a:pPr>
            <a:r>
              <a:t>карточки</a:t>
            </a:r>
          </a:p>
        </p:txBody>
      </p:sp>
      <p:sp>
        <p:nvSpPr>
          <p:cNvPr id="11" name="Rounded Rectangle 10"/>
          <p:cNvSpPr/>
          <p:nvPr/>
        </p:nvSpPr>
        <p:spPr>
          <a:xfrm>
            <a:off x="3657600" y="2953512"/>
            <a:ext cx="246888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85615" y="3063240"/>
            <a:ext cx="221284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Подготовка фактов</a:t>
            </a:r>
          </a:p>
          <a:p>
            <a:pPr>
              <a:lnSpc>
                <a:spcPct val="116000"/>
              </a:lnSpc>
              <a:spcBef>
                <a:spcPts val="0"/>
              </a:spcBef>
              <a:spcAft>
                <a:spcPts val="0"/>
              </a:spcAft>
              <a:defRPr sz="1800" b="1">
                <a:solidFill>
                  <a:srgbClr val="142438"/>
                </a:solidFill>
                <a:latin typeface="Arial"/>
              </a:defRPr>
            </a:pPr>
            <a:r>
              <a:t>причины · риск</a:t>
            </a:r>
          </a:p>
        </p:txBody>
      </p:sp>
      <p:sp>
        <p:nvSpPr>
          <p:cNvPr id="13" name="Rounded Rectangle 12"/>
          <p:cNvSpPr/>
          <p:nvPr/>
        </p:nvSpPr>
        <p:spPr>
          <a:xfrm>
            <a:off x="6766560" y="2953512"/>
            <a:ext cx="210312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4576" y="3063240"/>
            <a:ext cx="1847087"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LLM</a:t>
            </a:r>
          </a:p>
          <a:p>
            <a:pPr>
              <a:lnSpc>
                <a:spcPct val="116000"/>
              </a:lnSpc>
              <a:spcBef>
                <a:spcPts val="0"/>
              </a:spcBef>
              <a:spcAft>
                <a:spcPts val="0"/>
              </a:spcAft>
              <a:defRPr sz="1800" b="1">
                <a:solidFill>
                  <a:srgbClr val="142438"/>
                </a:solidFill>
                <a:latin typeface="Arial"/>
              </a:defRPr>
            </a:pPr>
            <a:r>
              <a:t>понятный</a:t>
            </a:r>
          </a:p>
          <a:p>
            <a:pPr>
              <a:lnSpc>
                <a:spcPct val="116000"/>
              </a:lnSpc>
              <a:spcBef>
                <a:spcPts val="0"/>
              </a:spcBef>
              <a:spcAft>
                <a:spcPts val="0"/>
              </a:spcAft>
              <a:defRPr sz="1800" b="1">
                <a:solidFill>
                  <a:srgbClr val="142438"/>
                </a:solidFill>
                <a:latin typeface="Arial"/>
              </a:defRPr>
            </a:pPr>
            <a:r>
              <a:t>пересказ</a:t>
            </a:r>
          </a:p>
        </p:txBody>
      </p:sp>
      <p:sp>
        <p:nvSpPr>
          <p:cNvPr id="15" name="Rounded Rectangle 14"/>
          <p:cNvSpPr/>
          <p:nvPr/>
        </p:nvSpPr>
        <p:spPr>
          <a:xfrm>
            <a:off x="9418320" y="2953512"/>
            <a:ext cx="2194560" cy="1005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3063240"/>
            <a:ext cx="1938528" cy="822960"/>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Проверка ответа</a:t>
            </a:r>
          </a:p>
          <a:p>
            <a:pPr>
              <a:lnSpc>
                <a:spcPct val="116000"/>
              </a:lnSpc>
              <a:spcBef>
                <a:spcPts val="0"/>
              </a:spcBef>
              <a:spcAft>
                <a:spcPts val="0"/>
              </a:spcAft>
              <a:defRPr sz="1800" b="1">
                <a:solidFill>
                  <a:srgbClr val="142438"/>
                </a:solidFill>
                <a:latin typeface="Arial"/>
              </a:defRPr>
            </a:pPr>
            <a:r>
              <a:t>текст для игрока</a:t>
            </a:r>
          </a:p>
        </p:txBody>
      </p:sp>
      <p:sp>
        <p:nvSpPr>
          <p:cNvPr id="17" name="Rounded Rectangle 16"/>
          <p:cNvSpPr/>
          <p:nvPr/>
        </p:nvSpPr>
        <p:spPr>
          <a:xfrm>
            <a:off x="3657600" y="4572000"/>
            <a:ext cx="7955279" cy="56692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85615" y="4681728"/>
            <a:ext cx="7699248" cy="384048"/>
          </a:xfrm>
          <a:prstGeom prst="rect">
            <a:avLst/>
          </a:prstGeom>
          <a:noFill/>
        </p:spPr>
        <p:txBody>
          <a:bodyPr wrap="none" lIns="0" rIns="0" tIns="0" bIns="0">
            <a:spAutoFit/>
          </a:bodyPr>
          <a:lstStyle/>
          <a:p>
            <a:pPr>
              <a:lnSpc>
                <a:spcPct val="116000"/>
              </a:lnSpc>
              <a:spcBef>
                <a:spcPts val="0"/>
              </a:spcBef>
              <a:spcAft>
                <a:spcPts val="0"/>
              </a:spcAft>
              <a:defRPr sz="1600" b="1">
                <a:solidFill>
                  <a:srgbClr val="142438"/>
                </a:solidFill>
                <a:latin typeface="Arial"/>
              </a:defRPr>
            </a:pPr>
            <a:r>
              <a:t>Если ответ недоступен или некорректен → шаблонное объяснение</a:t>
            </a:r>
          </a:p>
        </p:txBody>
      </p:sp>
      <p:sp>
        <p:nvSpPr>
          <p:cNvPr id="19" name="Rounded Rectangle 18"/>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LLM объясняет уже рассчитанный совет; её текст не меняет выбранные параметры.</a:t>
            </a:r>
          </a:p>
        </p:txBody>
      </p:sp>
      <p:sp>
        <p:nvSpPr>
          <p:cNvPr id="21" name="Rectangle 20"/>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3" name="TextBox 22"/>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ЭСКИЗ · ПРИМЕР ТЕКСТА, А НЕ ОТВЕТ ДЕЙСТВУЮЩЕЙ LLM</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будет выглядеть объяснение пользователю</a:t>
            </a:r>
          </a:p>
        </p:txBody>
      </p:sp>
      <p:sp>
        <p:nvSpPr>
          <p:cNvPr id="5" name="TextBox 4"/>
          <p:cNvSpPr txBox="1"/>
          <p:nvPr/>
        </p:nvSpPr>
        <p:spPr>
          <a:xfrm>
            <a:off x="548640" y="1837943"/>
            <a:ext cx="11064240" cy="457200"/>
          </a:xfrm>
          <a:prstGeom prst="rect">
            <a:avLst/>
          </a:prstGeom>
          <a:noFill/>
        </p:spPr>
        <p:txBody>
          <a:bodyPr wrap="none" lIns="0" rIns="0" tIns="0" bIns="0">
            <a:spAutoFit/>
          </a:bodyPr>
          <a:lstStyle/>
          <a:p>
            <a:pPr>
              <a:lnSpc>
                <a:spcPct val="116000"/>
              </a:lnSpc>
              <a:spcBef>
                <a:spcPts val="0"/>
              </a:spcBef>
              <a:spcAft>
                <a:spcPts val="0"/>
              </a:spcAft>
              <a:defRPr sz="1950" b="0">
                <a:solidFill>
                  <a:srgbClr val="526579"/>
                </a:solidFill>
                <a:latin typeface="Arial"/>
              </a:defRPr>
            </a:pPr>
            <a:r>
              <a:t>Карточка содержит расчёты; текст связывает решение с ситуацией игрока.</a:t>
            </a:r>
          </a:p>
        </p:txBody>
      </p:sp>
      <p:sp>
        <p:nvSpPr>
          <p:cNvPr id="6" name="Rounded Rectangle 5"/>
          <p:cNvSpPr/>
          <p:nvPr/>
        </p:nvSpPr>
        <p:spPr>
          <a:xfrm>
            <a:off x="548640"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Рекомендуемый план</a:t>
            </a:r>
          </a:p>
        </p:txBody>
      </p:sp>
      <p:sp>
        <p:nvSpPr>
          <p:cNvPr id="8" name="TextBox 7"/>
          <p:cNvSpPr txBox="1"/>
          <p:nvPr/>
        </p:nvSpPr>
        <p:spPr>
          <a:xfrm>
            <a:off x="713232" y="3172968"/>
            <a:ext cx="3236976" cy="1078992"/>
          </a:xfrm>
          <a:prstGeom prst="rect">
            <a:avLst/>
          </a:prstGeom>
          <a:noFill/>
        </p:spPr>
        <p:txBody>
          <a:bodyPr wrap="none" lIns="0" rIns="0" tIns="0" bIns="0">
            <a:spAutoFit/>
          </a:bodyPr>
          <a:lstStyle/>
          <a:p>
            <a:pPr>
              <a:lnSpc>
                <a:spcPct val="116000"/>
              </a:lnSpc>
              <a:spcBef>
                <a:spcPts val="0"/>
              </a:spcBef>
              <a:spcAft>
                <a:spcPts val="0"/>
              </a:spcAft>
              <a:defRPr sz="1800" b="0">
                <a:solidFill>
                  <a:srgbClr val="142438"/>
                </a:solidFill>
                <a:latin typeface="Arial"/>
              </a:defRPr>
            </a:pPr>
            <a:r>
              <a:t>Меньшая партия. Расчёт</a:t>
            </a:r>
          </a:p>
          <a:p>
            <a:pPr>
              <a:lnSpc>
                <a:spcPct val="116000"/>
              </a:lnSpc>
              <a:spcBef>
                <a:spcPts val="0"/>
              </a:spcBef>
              <a:spcAft>
                <a:spcPts val="0"/>
              </a:spcAft>
              <a:defRPr sz="1800" b="0">
                <a:solidFill>
                  <a:srgbClr val="142438"/>
                </a:solidFill>
                <a:latin typeface="Arial"/>
              </a:defRPr>
            </a:pPr>
            <a:r>
              <a:t>затрат и прогноз продаж</a:t>
            </a:r>
          </a:p>
          <a:p>
            <a:pPr>
              <a:lnSpc>
                <a:spcPct val="116000"/>
              </a:lnSpc>
              <a:spcBef>
                <a:spcPts val="0"/>
              </a:spcBef>
              <a:spcAft>
                <a:spcPts val="0"/>
              </a:spcAft>
              <a:defRPr sz="1800" b="0">
                <a:solidFill>
                  <a:srgbClr val="142438"/>
                </a:solidFill>
                <a:latin typeface="Arial"/>
              </a:defRPr>
            </a:pPr>
            <a:r>
              <a:t>остаются на карточке.</a:t>
            </a:r>
          </a:p>
        </p:txBody>
      </p:sp>
      <p:sp>
        <p:nvSpPr>
          <p:cNvPr id="9" name="Rounded Rectangle 8"/>
          <p:cNvSpPr/>
          <p:nvPr/>
        </p:nvSpPr>
        <p:spPr>
          <a:xfrm>
            <a:off x="4297679"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1"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Почему такой план</a:t>
            </a:r>
          </a:p>
        </p:txBody>
      </p:sp>
      <p:sp>
        <p:nvSpPr>
          <p:cNvPr id="11" name="TextBox 10"/>
          <p:cNvSpPr txBox="1"/>
          <p:nvPr/>
        </p:nvSpPr>
        <p:spPr>
          <a:xfrm>
            <a:off x="4462271" y="3172968"/>
            <a:ext cx="3236976" cy="1078992"/>
          </a:xfrm>
          <a:prstGeom prst="rect">
            <a:avLst/>
          </a:prstGeom>
          <a:noFill/>
        </p:spPr>
        <p:txBody>
          <a:bodyPr wrap="none" lIns="0" rIns="0" tIns="0" bIns="0">
            <a:spAutoFit/>
          </a:bodyPr>
          <a:lstStyle/>
          <a:p>
            <a:pPr>
              <a:lnSpc>
                <a:spcPct val="116000"/>
              </a:lnSpc>
              <a:spcBef>
                <a:spcPts val="0"/>
              </a:spcBef>
              <a:spcAft>
                <a:spcPts val="0"/>
              </a:spcAft>
              <a:defRPr sz="1750" b="0">
                <a:solidFill>
                  <a:srgbClr val="142438"/>
                </a:solidFill>
                <a:latin typeface="Arial"/>
              </a:defRPr>
            </a:pPr>
            <a:r>
              <a:t>«На складе остался товар.</a:t>
            </a:r>
          </a:p>
          <a:p>
            <a:pPr>
              <a:lnSpc>
                <a:spcPct val="116000"/>
              </a:lnSpc>
              <a:spcBef>
                <a:spcPts val="0"/>
              </a:spcBef>
              <a:spcAft>
                <a:spcPts val="0"/>
              </a:spcAft>
              <a:defRPr sz="1750" b="0">
                <a:solidFill>
                  <a:srgbClr val="142438"/>
                </a:solidFill>
                <a:latin typeface="Arial"/>
              </a:defRPr>
            </a:pPr>
            <a:r>
              <a:t>Меньшая партия снизит</a:t>
            </a:r>
          </a:p>
          <a:p>
            <a:pPr>
              <a:lnSpc>
                <a:spcPct val="116000"/>
              </a:lnSpc>
              <a:spcBef>
                <a:spcPts val="0"/>
              </a:spcBef>
              <a:spcAft>
                <a:spcPts val="0"/>
              </a:spcAft>
              <a:defRPr sz="1750" b="0">
                <a:solidFill>
                  <a:srgbClr val="142438"/>
                </a:solidFill>
                <a:latin typeface="Arial"/>
              </a:defRPr>
            </a:pPr>
            <a:r>
              <a:t>расходы и поможет сохранить</a:t>
            </a:r>
          </a:p>
          <a:p>
            <a:pPr>
              <a:lnSpc>
                <a:spcPct val="116000"/>
              </a:lnSpc>
              <a:spcBef>
                <a:spcPts val="0"/>
              </a:spcBef>
              <a:spcAft>
                <a:spcPts val="0"/>
              </a:spcAft>
              <a:defRPr sz="1750" b="0">
                <a:solidFill>
                  <a:srgbClr val="142438"/>
                </a:solidFill>
                <a:latin typeface="Arial"/>
              </a:defRPr>
            </a:pPr>
            <a:r>
              <a:t>деньги к платежу».</a:t>
            </a:r>
          </a:p>
        </p:txBody>
      </p:sp>
      <p:sp>
        <p:nvSpPr>
          <p:cNvPr id="12" name="Rounded Rectangle 11"/>
          <p:cNvSpPr/>
          <p:nvPr/>
        </p:nvSpPr>
        <p:spPr>
          <a:xfrm>
            <a:off x="8046719" y="2505456"/>
            <a:ext cx="3566160" cy="1892807"/>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1" y="2670048"/>
            <a:ext cx="3236976" cy="365760"/>
          </a:xfrm>
          <a:prstGeom prst="rect">
            <a:avLst/>
          </a:prstGeom>
          <a:noFill/>
        </p:spPr>
        <p:txBody>
          <a:bodyPr wrap="none" lIns="0" rIns="0" tIns="0" bIns="0">
            <a:spAutoFit/>
          </a:bodyPr>
          <a:lstStyle/>
          <a:p>
            <a:pPr>
              <a:lnSpc>
                <a:spcPct val="116000"/>
              </a:lnSpc>
              <a:spcBef>
                <a:spcPts val="0"/>
              </a:spcBef>
              <a:spcAft>
                <a:spcPts val="0"/>
              </a:spcAft>
              <a:defRPr sz="1900" b="1">
                <a:solidFill>
                  <a:srgbClr val="087F8C"/>
                </a:solidFill>
                <a:latin typeface="Arial"/>
              </a:defRPr>
            </a:pPr>
            <a:r>
              <a:t>Вопрос игрока</a:t>
            </a:r>
          </a:p>
        </p:txBody>
      </p:sp>
      <p:sp>
        <p:nvSpPr>
          <p:cNvPr id="14" name="TextBox 13"/>
          <p:cNvSpPr txBox="1"/>
          <p:nvPr/>
        </p:nvSpPr>
        <p:spPr>
          <a:xfrm>
            <a:off x="8211311" y="3172968"/>
            <a:ext cx="3236976" cy="1078992"/>
          </a:xfrm>
          <a:prstGeom prst="rect">
            <a:avLst/>
          </a:prstGeom>
          <a:noFill/>
        </p:spPr>
        <p:txBody>
          <a:bodyPr wrap="none" lIns="0" rIns="0" tIns="0" bIns="0">
            <a:spAutoFit/>
          </a:bodyPr>
          <a:lstStyle/>
          <a:p>
            <a:pPr>
              <a:lnSpc>
                <a:spcPct val="116000"/>
              </a:lnSpc>
              <a:spcBef>
                <a:spcPts val="0"/>
              </a:spcBef>
              <a:spcAft>
                <a:spcPts val="0"/>
              </a:spcAft>
              <a:defRPr sz="1750" b="0">
                <a:solidFill>
                  <a:srgbClr val="142438"/>
                </a:solidFill>
                <a:latin typeface="Arial"/>
              </a:defRPr>
            </a:pPr>
            <a:r>
              <a:t>«Почему не взять кредит?»</a:t>
            </a:r>
          </a:p>
          <a:p>
            <a:pPr>
              <a:lnSpc>
                <a:spcPct val="116000"/>
              </a:lnSpc>
              <a:spcBef>
                <a:spcPts val="0"/>
              </a:spcBef>
              <a:spcAft>
                <a:spcPts val="0"/>
              </a:spcAft>
              <a:defRPr sz="1750" b="0">
                <a:solidFill>
                  <a:srgbClr val="142438"/>
                </a:solidFill>
                <a:latin typeface="Arial"/>
              </a:defRPr>
            </a:pPr>
            <a:r>
              <a:t>Ответ опирается на расчёт</a:t>
            </a:r>
          </a:p>
          <a:p>
            <a:pPr>
              <a:lnSpc>
                <a:spcPct val="116000"/>
              </a:lnSpc>
              <a:spcBef>
                <a:spcPts val="0"/>
              </a:spcBef>
              <a:spcAft>
                <a:spcPts val="0"/>
              </a:spcAft>
              <a:defRPr sz="1750" b="0">
                <a:solidFill>
                  <a:srgbClr val="142438"/>
                </a:solidFill>
                <a:latin typeface="Arial"/>
              </a:defRPr>
            </a:pPr>
            <a:r>
              <a:t>платежей и правила</a:t>
            </a:r>
          </a:p>
          <a:p>
            <a:pPr>
              <a:lnSpc>
                <a:spcPct val="116000"/>
              </a:lnSpc>
              <a:spcBef>
                <a:spcPts val="0"/>
              </a:spcBef>
              <a:spcAft>
                <a:spcPts val="0"/>
              </a:spcAft>
              <a:defRPr sz="1750" b="0">
                <a:solidFill>
                  <a:srgbClr val="142438"/>
                </a:solidFill>
                <a:latin typeface="Arial"/>
              </a:defRPr>
            </a:pPr>
            <a:r>
              <a:t>кредитования.</a:t>
            </a:r>
          </a:p>
        </p:txBody>
      </p:sp>
      <p:sp>
        <p:nvSpPr>
          <p:cNvPr id="15" name="Rounded Rectangle 14"/>
          <p:cNvSpPr/>
          <p:nvPr/>
        </p:nvSpPr>
        <p:spPr>
          <a:xfrm>
            <a:off x="548640" y="4608576"/>
            <a:ext cx="11064240" cy="832104"/>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45736"/>
            <a:ext cx="10698480" cy="621792"/>
          </a:xfrm>
          <a:prstGeom prst="rect">
            <a:avLst/>
          </a:prstGeom>
          <a:noFill/>
        </p:spPr>
        <p:txBody>
          <a:bodyPr wrap="none" lIns="0" rIns="0" tIns="0" bIns="0">
            <a:spAutoFit/>
          </a:bodyPr>
          <a:lstStyle/>
          <a:p>
            <a:pPr>
              <a:lnSpc>
                <a:spcPct val="116000"/>
              </a:lnSpc>
              <a:spcBef>
                <a:spcPts val="0"/>
              </a:spcBef>
              <a:spcAft>
                <a:spcPts val="0"/>
              </a:spcAft>
              <a:defRPr sz="1900" b="0">
                <a:solidFill>
                  <a:srgbClr val="142438"/>
                </a:solidFill>
                <a:latin typeface="Arial"/>
              </a:defRPr>
            </a:pPr>
            <a:r>
              <a:t>Игрок видит вариант, причины, риск и источники пояснения — и сам принимает решение.</a:t>
            </a:r>
          </a:p>
        </p:txBody>
      </p:sp>
      <p:sp>
        <p:nvSpPr>
          <p:cNvPr id="17" name="Rounded Rectangle 16"/>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Текст и числа имеют разные источники: числа — расчёт, формулировка — LLM.</a:t>
            </a:r>
          </a:p>
        </p:txBody>
      </p:sp>
      <p:sp>
        <p:nvSpPr>
          <p:cNvPr id="19" name="Rectangle 18"/>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1" name="TextBox 20"/>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ПЛАН · ПОИСК ПО ПРОВЕРЕННЫМ ПРАВИЛАМ ИГРЫ</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Как RAG добавит знания предметной области</a:t>
            </a:r>
          </a:p>
        </p:txBody>
      </p:sp>
      <p:cxnSp>
        <p:nvCxnSpPr>
          <p:cNvPr id="5" name="Connector 4"/>
          <p:cNvCxnSpPr/>
          <p:nvPr/>
        </p:nvCxnSpPr>
        <p:spPr>
          <a:xfrm>
            <a:off x="2834640" y="3182112"/>
            <a:ext cx="868680" cy="795527"/>
          </a:xfrm>
          <a:prstGeom prst="line">
            <a:avLst/>
          </a:prstGeom>
          <a:ln w="2032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291840" y="3977639"/>
            <a:ext cx="411480" cy="941833"/>
          </a:xfrm>
          <a:prstGeom prst="line">
            <a:avLst/>
          </a:prstGeom>
          <a:ln w="2032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46520" y="3977639"/>
            <a:ext cx="868680" cy="0"/>
          </a:xfrm>
          <a:prstGeom prst="line">
            <a:avLst/>
          </a:prstGeom>
          <a:ln w="2032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418320" y="3977639"/>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852928"/>
            <a:ext cx="22860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962656"/>
            <a:ext cx="2029967" cy="475488"/>
          </a:xfrm>
          <a:prstGeom prst="rect">
            <a:avLst/>
          </a:prstGeom>
          <a:noFill/>
        </p:spPr>
        <p:txBody>
          <a:bodyPr wrap="none" lIns="0" rIns="0" tIns="0" bIns="0">
            <a:spAutoFit/>
          </a:bodyPr>
          <a:lstStyle/>
          <a:p>
            <a:pPr>
              <a:lnSpc>
                <a:spcPct val="116000"/>
              </a:lnSpc>
              <a:spcBef>
                <a:spcPts val="0"/>
              </a:spcBef>
              <a:spcAft>
                <a:spcPts val="0"/>
              </a:spcAft>
              <a:defRPr sz="1800" b="1">
                <a:solidFill>
                  <a:srgbClr val="142438"/>
                </a:solidFill>
                <a:latin typeface="Arial"/>
              </a:defRPr>
            </a:pPr>
            <a:r>
              <a:t>Вопрос игрока</a:t>
            </a:r>
          </a:p>
        </p:txBody>
      </p:sp>
      <p:sp>
        <p:nvSpPr>
          <p:cNvPr id="11" name="Rounded Rectangle 10"/>
          <p:cNvSpPr/>
          <p:nvPr/>
        </p:nvSpPr>
        <p:spPr>
          <a:xfrm>
            <a:off x="548640" y="4526280"/>
            <a:ext cx="2743200" cy="786384"/>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4636008"/>
            <a:ext cx="2487168" cy="603503"/>
          </a:xfrm>
          <a:prstGeom prst="rect">
            <a:avLst/>
          </a:prstGeom>
          <a:noFill/>
        </p:spPr>
        <p:txBody>
          <a:bodyPr wrap="none" lIns="0" rIns="0" tIns="0" bIns="0">
            <a:spAutoFit/>
          </a:bodyPr>
          <a:lstStyle/>
          <a:p>
            <a:pPr>
              <a:lnSpc>
                <a:spcPct val="116000"/>
              </a:lnSpc>
              <a:spcBef>
                <a:spcPts val="0"/>
              </a:spcBef>
              <a:spcAft>
                <a:spcPts val="0"/>
              </a:spcAft>
              <a:defRPr sz="1550" b="1">
                <a:solidFill>
                  <a:srgbClr val="142438"/>
                </a:solidFill>
                <a:latin typeface="Arial"/>
              </a:defRPr>
            </a:pPr>
            <a:r>
              <a:t>Версии правил</a:t>
            </a:r>
          </a:p>
          <a:p>
            <a:pPr>
              <a:lnSpc>
                <a:spcPct val="116000"/>
              </a:lnSpc>
              <a:spcBef>
                <a:spcPts val="0"/>
              </a:spcBef>
              <a:spcAft>
                <a:spcPts val="0"/>
              </a:spcAft>
              <a:defRPr sz="1550" b="1">
                <a:solidFill>
                  <a:srgbClr val="142438"/>
                </a:solidFill>
                <a:latin typeface="Arial"/>
              </a:defRPr>
            </a:pPr>
            <a:r>
              <a:t>производство · кредиты</a:t>
            </a:r>
          </a:p>
        </p:txBody>
      </p:sp>
      <p:sp>
        <p:nvSpPr>
          <p:cNvPr id="13" name="Rounded Rectangle 12"/>
          <p:cNvSpPr/>
          <p:nvPr/>
        </p:nvSpPr>
        <p:spPr>
          <a:xfrm>
            <a:off x="3703320" y="3520440"/>
            <a:ext cx="2743200" cy="914400"/>
          </a:xfrm>
          <a:prstGeom prst="roundRect">
            <a:avLst>
              <a:gd name="adj" fmla="val 8000"/>
            </a:avLst>
          </a:prstGeom>
          <a:solidFill>
            <a:srgbClr val="FFF2E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5" y="3630168"/>
            <a:ext cx="2487168" cy="731520"/>
          </a:xfrm>
          <a:prstGeom prst="rect">
            <a:avLst/>
          </a:prstGeom>
          <a:noFill/>
        </p:spPr>
        <p:txBody>
          <a:bodyPr wrap="none" lIns="0" rIns="0" tIns="0" bIns="0">
            <a:spAutoFit/>
          </a:bodyPr>
          <a:lstStyle/>
          <a:p>
            <a:pPr>
              <a:lnSpc>
                <a:spcPct val="116000"/>
              </a:lnSpc>
              <a:spcBef>
                <a:spcPts val="0"/>
              </a:spcBef>
              <a:spcAft>
                <a:spcPts val="0"/>
              </a:spcAft>
              <a:defRPr sz="1800" b="1">
                <a:solidFill>
                  <a:srgbClr val="AA6520"/>
                </a:solidFill>
                <a:latin typeface="Arial"/>
              </a:defRPr>
            </a:pPr>
            <a:r>
              <a:t>Поиск</a:t>
            </a:r>
          </a:p>
          <a:p>
            <a:pPr>
              <a:lnSpc>
                <a:spcPct val="116000"/>
              </a:lnSpc>
              <a:spcBef>
                <a:spcPts val="0"/>
              </a:spcBef>
              <a:spcAft>
                <a:spcPts val="0"/>
              </a:spcAft>
              <a:defRPr sz="1800" b="1">
                <a:solidFill>
                  <a:srgbClr val="AA6520"/>
                </a:solidFill>
                <a:latin typeface="Arial"/>
              </a:defRPr>
            </a:pPr>
            <a:r>
              <a:t>релевантных правил</a:t>
            </a:r>
          </a:p>
        </p:txBody>
      </p:sp>
      <p:sp>
        <p:nvSpPr>
          <p:cNvPr id="15" name="Rounded Rectangle 14"/>
          <p:cNvSpPr/>
          <p:nvPr/>
        </p:nvSpPr>
        <p:spPr>
          <a:xfrm>
            <a:off x="7315200" y="3520440"/>
            <a:ext cx="210312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43216" y="3630168"/>
            <a:ext cx="1847087" cy="731520"/>
          </a:xfrm>
          <a:prstGeom prst="rect">
            <a:avLst/>
          </a:prstGeom>
          <a:noFill/>
        </p:spPr>
        <p:txBody>
          <a:bodyPr wrap="none" lIns="0" rIns="0" tIns="0" bIns="0">
            <a:spAutoFit/>
          </a:bodyPr>
          <a:lstStyle/>
          <a:p>
            <a:pPr>
              <a:lnSpc>
                <a:spcPct val="116000"/>
              </a:lnSpc>
              <a:spcBef>
                <a:spcPts val="0"/>
              </a:spcBef>
              <a:spcAft>
                <a:spcPts val="0"/>
              </a:spcAft>
              <a:defRPr sz="1600" b="1">
                <a:solidFill>
                  <a:srgbClr val="142438"/>
                </a:solidFill>
                <a:latin typeface="Arial"/>
              </a:defRPr>
            </a:pPr>
            <a:r>
              <a:t>LLM</a:t>
            </a:r>
          </a:p>
          <a:p>
            <a:pPr>
              <a:lnSpc>
                <a:spcPct val="116000"/>
              </a:lnSpc>
              <a:spcBef>
                <a:spcPts val="0"/>
              </a:spcBef>
              <a:spcAft>
                <a:spcPts val="0"/>
              </a:spcAft>
              <a:defRPr sz="1600" b="1">
                <a:solidFill>
                  <a:srgbClr val="142438"/>
                </a:solidFill>
                <a:latin typeface="Arial"/>
              </a:defRPr>
            </a:pPr>
            <a:r>
              <a:t>факты +</a:t>
            </a:r>
          </a:p>
          <a:p>
            <a:pPr>
              <a:lnSpc>
                <a:spcPct val="116000"/>
              </a:lnSpc>
              <a:spcBef>
                <a:spcPts val="0"/>
              </a:spcBef>
              <a:spcAft>
                <a:spcPts val="0"/>
              </a:spcAft>
              <a:defRPr sz="1600" b="1">
                <a:solidFill>
                  <a:srgbClr val="142438"/>
                </a:solidFill>
                <a:latin typeface="Arial"/>
              </a:defRPr>
            </a:pPr>
            <a:r>
              <a:t>фрагменты</a:t>
            </a:r>
          </a:p>
        </p:txBody>
      </p:sp>
      <p:sp>
        <p:nvSpPr>
          <p:cNvPr id="17" name="Rounded Rectangle 16"/>
          <p:cNvSpPr/>
          <p:nvPr/>
        </p:nvSpPr>
        <p:spPr>
          <a:xfrm>
            <a:off x="10058400" y="3520440"/>
            <a:ext cx="1554480" cy="9144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86416" y="3630168"/>
            <a:ext cx="1298448" cy="731520"/>
          </a:xfrm>
          <a:prstGeom prst="rect">
            <a:avLst/>
          </a:prstGeom>
          <a:noFill/>
        </p:spPr>
        <p:txBody>
          <a:bodyPr wrap="none" lIns="0" rIns="0" tIns="0" bIns="0">
            <a:spAutoFit/>
          </a:bodyPr>
          <a:lstStyle/>
          <a:p>
            <a:pPr>
              <a:lnSpc>
                <a:spcPct val="116000"/>
              </a:lnSpc>
              <a:spcBef>
                <a:spcPts val="0"/>
              </a:spcBef>
              <a:spcAft>
                <a:spcPts val="0"/>
              </a:spcAft>
              <a:defRPr sz="1600" b="1">
                <a:solidFill>
                  <a:srgbClr val="142438"/>
                </a:solidFill>
                <a:latin typeface="Arial"/>
              </a:defRPr>
            </a:pPr>
            <a:r>
              <a:t>Ответ</a:t>
            </a:r>
          </a:p>
          <a:p>
            <a:pPr>
              <a:lnSpc>
                <a:spcPct val="116000"/>
              </a:lnSpc>
              <a:spcBef>
                <a:spcPts val="0"/>
              </a:spcBef>
              <a:spcAft>
                <a:spcPts val="0"/>
              </a:spcAft>
              <a:defRPr sz="1600" b="1">
                <a:solidFill>
                  <a:srgbClr val="142438"/>
                </a:solidFill>
                <a:latin typeface="Arial"/>
              </a:defRPr>
            </a:pPr>
            <a:r>
              <a:t>со</a:t>
            </a:r>
          </a:p>
          <a:p>
            <a:pPr>
              <a:lnSpc>
                <a:spcPct val="116000"/>
              </a:lnSpc>
              <a:spcBef>
                <a:spcPts val="0"/>
              </a:spcBef>
              <a:spcAft>
                <a:spcPts val="0"/>
              </a:spcAft>
              <a:defRPr sz="1600" b="1">
                <a:solidFill>
                  <a:srgbClr val="142438"/>
                </a:solidFill>
                <a:latin typeface="Arial"/>
              </a:defRPr>
            </a:pPr>
            <a:r>
              <a:t>ссылками</a:t>
            </a:r>
          </a:p>
        </p:txBody>
      </p:sp>
      <p:sp>
        <p:nvSpPr>
          <p:cNvPr id="19" name="Rounded Rectangle 18"/>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500" b="1">
                <a:solidFill>
                  <a:srgbClr val="087F8C"/>
                </a:solidFill>
                <a:latin typeface="Arial"/>
              </a:defRPr>
            </a:pPr>
            <a:r>
              <a:t>RAG объясняет механику игры со ссылками. Финансовые и производственные расчёты остаются у агентов.</a:t>
            </a:r>
          </a:p>
        </p:txBody>
      </p:sp>
      <p:sp>
        <p:nvSpPr>
          <p:cNvPr id="21" name="Rectangle 20"/>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23" name="TextBox 22"/>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ПЛАН · ИНТЕГРАЦИЯ ML, АГЕНТОВ, LLM И RAG</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Целевая система: два потока сходятся в ответе</a:t>
            </a:r>
          </a:p>
        </p:txBody>
      </p:sp>
      <p:cxnSp>
        <p:nvCxnSpPr>
          <p:cNvPr id="5" name="Connector 4"/>
          <p:cNvCxnSpPr/>
          <p:nvPr/>
        </p:nvCxnSpPr>
        <p:spPr>
          <a:xfrm>
            <a:off x="2377440" y="3067812"/>
            <a:ext cx="59436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35040" y="3067812"/>
            <a:ext cx="640080"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377440" y="4933188"/>
            <a:ext cx="594360" cy="0"/>
          </a:xfrm>
          <a:prstGeom prst="line">
            <a:avLst/>
          </a:prstGeom>
          <a:ln w="2032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35040" y="4933188"/>
            <a:ext cx="640080" cy="0"/>
          </a:xfrm>
          <a:prstGeom prst="line">
            <a:avLst/>
          </a:prstGeom>
          <a:ln w="2032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46720" y="3456432"/>
            <a:ext cx="0" cy="1088136"/>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18320" y="3067812"/>
            <a:ext cx="457200" cy="950976"/>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418320" y="4018788"/>
            <a:ext cx="457200" cy="91440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2679192"/>
            <a:ext cx="182880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788920"/>
            <a:ext cx="15727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Состояние</a:t>
            </a:r>
          </a:p>
          <a:p>
            <a:pPr>
              <a:lnSpc>
                <a:spcPct val="116000"/>
              </a:lnSpc>
              <a:spcBef>
                <a:spcPts val="0"/>
              </a:spcBef>
              <a:spcAft>
                <a:spcPts val="0"/>
              </a:spcAft>
              <a:defRPr sz="1700" b="1">
                <a:solidFill>
                  <a:srgbClr val="142438"/>
                </a:solidFill>
                <a:latin typeface="Arial"/>
              </a:defRPr>
            </a:pPr>
            <a:r>
              <a:t>игры</a:t>
            </a:r>
          </a:p>
        </p:txBody>
      </p:sp>
      <p:sp>
        <p:nvSpPr>
          <p:cNvPr id="14" name="Rounded Rectangle 13"/>
          <p:cNvSpPr/>
          <p:nvPr/>
        </p:nvSpPr>
        <p:spPr>
          <a:xfrm>
            <a:off x="2971800" y="2679192"/>
            <a:ext cx="3063240" cy="777240"/>
          </a:xfrm>
          <a:prstGeom prst="roundRect">
            <a:avLst>
              <a:gd name="adj" fmla="val 8000"/>
            </a:avLst>
          </a:prstGeom>
          <a:solidFill>
            <a:srgbClr val="E1F1F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9816" y="2788920"/>
            <a:ext cx="280720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087F8C"/>
                </a:solidFill>
                <a:latin typeface="Arial"/>
              </a:defRPr>
            </a:pPr>
            <a:r>
              <a:t>Агенты + ML</a:t>
            </a:r>
          </a:p>
          <a:p>
            <a:pPr>
              <a:lnSpc>
                <a:spcPct val="116000"/>
              </a:lnSpc>
              <a:spcBef>
                <a:spcPts val="0"/>
              </a:spcBef>
              <a:spcAft>
                <a:spcPts val="0"/>
              </a:spcAft>
              <a:defRPr sz="1700" b="1">
                <a:solidFill>
                  <a:srgbClr val="087F8C"/>
                </a:solidFill>
                <a:latin typeface="Arial"/>
              </a:defRPr>
            </a:pPr>
            <a:r>
              <a:t>выбранное устройство</a:t>
            </a:r>
          </a:p>
        </p:txBody>
      </p:sp>
      <p:sp>
        <p:nvSpPr>
          <p:cNvPr id="16" name="Rounded Rectangle 15"/>
          <p:cNvSpPr/>
          <p:nvPr/>
        </p:nvSpPr>
        <p:spPr>
          <a:xfrm>
            <a:off x="6675120" y="2679192"/>
            <a:ext cx="274320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2788920"/>
            <a:ext cx="24871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Карточки</a:t>
            </a:r>
          </a:p>
          <a:p>
            <a:pPr>
              <a:lnSpc>
                <a:spcPct val="116000"/>
              </a:lnSpc>
              <a:spcBef>
                <a:spcPts val="0"/>
              </a:spcBef>
              <a:spcAft>
                <a:spcPts val="0"/>
              </a:spcAft>
              <a:defRPr sz="1700" b="1">
                <a:solidFill>
                  <a:srgbClr val="142438"/>
                </a:solidFill>
                <a:latin typeface="Arial"/>
              </a:defRPr>
            </a:pPr>
            <a:r>
              <a:t>и расчётные факты</a:t>
            </a:r>
          </a:p>
        </p:txBody>
      </p:sp>
      <p:sp>
        <p:nvSpPr>
          <p:cNvPr id="18" name="Rounded Rectangle 17"/>
          <p:cNvSpPr/>
          <p:nvPr/>
        </p:nvSpPr>
        <p:spPr>
          <a:xfrm>
            <a:off x="548640" y="4544568"/>
            <a:ext cx="182880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654296"/>
            <a:ext cx="15727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Вопрос</a:t>
            </a:r>
          </a:p>
          <a:p>
            <a:pPr>
              <a:lnSpc>
                <a:spcPct val="116000"/>
              </a:lnSpc>
              <a:spcBef>
                <a:spcPts val="0"/>
              </a:spcBef>
              <a:spcAft>
                <a:spcPts val="0"/>
              </a:spcAft>
              <a:defRPr sz="1700" b="1">
                <a:solidFill>
                  <a:srgbClr val="142438"/>
                </a:solidFill>
                <a:latin typeface="Arial"/>
              </a:defRPr>
            </a:pPr>
            <a:r>
              <a:t>игрока</a:t>
            </a:r>
          </a:p>
        </p:txBody>
      </p:sp>
      <p:sp>
        <p:nvSpPr>
          <p:cNvPr id="20" name="Rounded Rectangle 19"/>
          <p:cNvSpPr/>
          <p:nvPr/>
        </p:nvSpPr>
        <p:spPr>
          <a:xfrm>
            <a:off x="2971800" y="4544568"/>
            <a:ext cx="3063240" cy="777240"/>
          </a:xfrm>
          <a:prstGeom prst="roundRect">
            <a:avLst>
              <a:gd name="adj" fmla="val 8000"/>
            </a:avLst>
          </a:prstGeom>
          <a:solidFill>
            <a:srgbClr val="FFF2E2"/>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9816" y="4654296"/>
            <a:ext cx="280720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AA6520"/>
                </a:solidFill>
                <a:latin typeface="Arial"/>
              </a:defRPr>
            </a:pPr>
            <a:r>
              <a:t>RAG</a:t>
            </a:r>
          </a:p>
          <a:p>
            <a:pPr>
              <a:lnSpc>
                <a:spcPct val="116000"/>
              </a:lnSpc>
              <a:spcBef>
                <a:spcPts val="0"/>
              </a:spcBef>
              <a:spcAft>
                <a:spcPts val="0"/>
              </a:spcAft>
              <a:defRPr sz="1700" b="1">
                <a:solidFill>
                  <a:srgbClr val="AA6520"/>
                </a:solidFill>
                <a:latin typeface="Arial"/>
              </a:defRPr>
            </a:pPr>
            <a:r>
              <a:t>правила с источниками</a:t>
            </a:r>
          </a:p>
        </p:txBody>
      </p:sp>
      <p:sp>
        <p:nvSpPr>
          <p:cNvPr id="22" name="Rounded Rectangle 21"/>
          <p:cNvSpPr/>
          <p:nvPr/>
        </p:nvSpPr>
        <p:spPr>
          <a:xfrm>
            <a:off x="6675120" y="4544568"/>
            <a:ext cx="2743200" cy="777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03136" y="4654296"/>
            <a:ext cx="2487168" cy="594359"/>
          </a:xfrm>
          <a:prstGeom prst="rect">
            <a:avLst/>
          </a:prstGeom>
          <a:noFill/>
        </p:spPr>
        <p:txBody>
          <a:bodyPr wrap="none" lIns="0" rIns="0" tIns="0" bIns="0">
            <a:spAutoFit/>
          </a:bodyPr>
          <a:lstStyle/>
          <a:p>
            <a:pPr>
              <a:lnSpc>
                <a:spcPct val="116000"/>
              </a:lnSpc>
              <a:spcBef>
                <a:spcPts val="0"/>
              </a:spcBef>
              <a:spcAft>
                <a:spcPts val="0"/>
              </a:spcAft>
              <a:defRPr sz="1700" b="1">
                <a:solidFill>
                  <a:srgbClr val="142438"/>
                </a:solidFill>
                <a:latin typeface="Arial"/>
              </a:defRPr>
            </a:pPr>
            <a:r>
              <a:t>LLM</a:t>
            </a:r>
          </a:p>
          <a:p>
            <a:pPr>
              <a:lnSpc>
                <a:spcPct val="116000"/>
              </a:lnSpc>
              <a:spcBef>
                <a:spcPts val="0"/>
              </a:spcBef>
              <a:spcAft>
                <a:spcPts val="0"/>
              </a:spcAft>
              <a:defRPr sz="1700" b="1">
                <a:solidFill>
                  <a:srgbClr val="142438"/>
                </a:solidFill>
                <a:latin typeface="Arial"/>
              </a:defRPr>
            </a:pPr>
            <a:r>
              <a:t>пояснение</a:t>
            </a:r>
          </a:p>
        </p:txBody>
      </p:sp>
      <p:sp>
        <p:nvSpPr>
          <p:cNvPr id="24" name="Rounded Rectangle 23"/>
          <p:cNvSpPr/>
          <p:nvPr/>
        </p:nvSpPr>
        <p:spPr>
          <a:xfrm>
            <a:off x="9875520" y="3401568"/>
            <a:ext cx="1737360" cy="12344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3536" y="3511296"/>
            <a:ext cx="1481328" cy="1051560"/>
          </a:xfrm>
          <a:prstGeom prst="rect">
            <a:avLst/>
          </a:prstGeom>
          <a:noFill/>
        </p:spPr>
        <p:txBody>
          <a:bodyPr wrap="none" lIns="0" rIns="0" tIns="0" bIns="0">
            <a:spAutoFit/>
          </a:bodyPr>
          <a:lstStyle/>
          <a:p>
            <a:pPr>
              <a:lnSpc>
                <a:spcPct val="116000"/>
              </a:lnSpc>
              <a:spcBef>
                <a:spcPts val="0"/>
              </a:spcBef>
              <a:spcAft>
                <a:spcPts val="0"/>
              </a:spcAft>
              <a:defRPr sz="1600" b="1">
                <a:solidFill>
                  <a:srgbClr val="142438"/>
                </a:solidFill>
                <a:latin typeface="Arial"/>
              </a:defRPr>
            </a:pPr>
            <a:r>
              <a:t>Игрок</a:t>
            </a:r>
          </a:p>
          <a:p>
            <a:pPr>
              <a:lnSpc>
                <a:spcPct val="116000"/>
              </a:lnSpc>
              <a:spcBef>
                <a:spcPts val="0"/>
              </a:spcBef>
              <a:spcAft>
                <a:spcPts val="0"/>
              </a:spcAft>
              <a:defRPr sz="1600" b="1">
                <a:solidFill>
                  <a:srgbClr val="142438"/>
                </a:solidFill>
                <a:latin typeface="Arial"/>
              </a:defRPr>
            </a:pPr>
            <a:r>
              <a:t>карточка</a:t>
            </a:r>
          </a:p>
          <a:p>
            <a:pPr>
              <a:lnSpc>
                <a:spcPct val="116000"/>
              </a:lnSpc>
              <a:spcBef>
                <a:spcPts val="0"/>
              </a:spcBef>
              <a:spcAft>
                <a:spcPts val="0"/>
              </a:spcAft>
              <a:defRPr sz="1600" b="1">
                <a:solidFill>
                  <a:srgbClr val="142438"/>
                </a:solidFill>
                <a:latin typeface="Arial"/>
              </a:defRPr>
            </a:pPr>
            <a:r>
              <a:t>+ объяснение</a:t>
            </a:r>
          </a:p>
        </p:txBody>
      </p:sp>
      <p:sp>
        <p:nvSpPr>
          <p:cNvPr id="26" name="Rounded Rectangle 25"/>
          <p:cNvSpPr/>
          <p:nvPr/>
        </p:nvSpPr>
        <p:spPr>
          <a:xfrm>
            <a:off x="548640" y="5650992"/>
            <a:ext cx="11064240" cy="576072"/>
          </a:xfrm>
          <a:prstGeom prst="roundRect">
            <a:avLst>
              <a:gd name="adj" fmla="val 8000"/>
            </a:avLst>
          </a:prstGeom>
          <a:solidFill>
            <a:srgbClr val="E1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779008"/>
            <a:ext cx="10652760" cy="365760"/>
          </a:xfrm>
          <a:prstGeom prst="rect">
            <a:avLst/>
          </a:prstGeom>
          <a:noFill/>
        </p:spPr>
        <p:txBody>
          <a:bodyPr wrap="none" lIns="0" rIns="0" tIns="0" bIns="0">
            <a:spAutoFit/>
          </a:bodyPr>
          <a:lstStyle/>
          <a:p>
            <a:pPr>
              <a:lnSpc>
                <a:spcPct val="116000"/>
              </a:lnSpc>
              <a:spcBef>
                <a:spcPts val="0"/>
              </a:spcBef>
              <a:spcAft>
                <a:spcPts val="0"/>
              </a:spcAft>
              <a:defRPr sz="1650" b="1">
                <a:solidFill>
                  <a:srgbClr val="087F8C"/>
                </a:solidFill>
                <a:latin typeface="Arial"/>
              </a:defRPr>
            </a:pPr>
            <a:r>
              <a:t>Решение опирается на модель и расчёты; объяснение — на эти факты и знания игры.</a:t>
            </a:r>
          </a:p>
        </p:txBody>
      </p:sp>
      <p:sp>
        <p:nvSpPr>
          <p:cNvPr id="28" name="Rectangle 27"/>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30" name="TextBox 29"/>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48640" y="502920"/>
            <a:ext cx="73152" cy="228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84632"/>
            <a:ext cx="10789920" cy="274320"/>
          </a:xfrm>
          <a:prstGeom prst="rect">
            <a:avLst/>
          </a:prstGeom>
          <a:noFill/>
        </p:spPr>
        <p:txBody>
          <a:bodyPr wrap="none" lIns="0" rIns="0" tIns="0" bIns="0">
            <a:spAutoFit/>
          </a:bodyPr>
          <a:lstStyle/>
          <a:p>
            <a:pPr>
              <a:lnSpc>
                <a:spcPct val="116000"/>
              </a:lnSpc>
              <a:spcBef>
                <a:spcPts val="0"/>
              </a:spcBef>
              <a:spcAft>
                <a:spcPts val="0"/>
              </a:spcAft>
              <a:defRPr sz="1150" b="1">
                <a:solidFill>
                  <a:srgbClr val="087F8C"/>
                </a:solidFill>
                <a:latin typeface="Arial"/>
              </a:defRPr>
            </a:pPr>
            <a:r>
              <a:t>ОТ ЛАБОРАТОРИИ К СОВЕТЧИКУ ДЛЯ ИГРОКА</a:t>
            </a:r>
          </a:p>
        </p:txBody>
      </p:sp>
      <p:sp>
        <p:nvSpPr>
          <p:cNvPr id="4" name="TextBox 3"/>
          <p:cNvSpPr txBox="1"/>
          <p:nvPr/>
        </p:nvSpPr>
        <p:spPr>
          <a:xfrm>
            <a:off x="548640" y="960120"/>
            <a:ext cx="11064240" cy="987552"/>
          </a:xfrm>
          <a:prstGeom prst="rect">
            <a:avLst/>
          </a:prstGeom>
          <a:noFill/>
        </p:spPr>
        <p:txBody>
          <a:bodyPr wrap="none" lIns="0" rIns="0" tIns="0" bIns="0">
            <a:spAutoFit/>
          </a:bodyPr>
          <a:lstStyle/>
          <a:p>
            <a:pPr>
              <a:lnSpc>
                <a:spcPct val="116000"/>
              </a:lnSpc>
              <a:spcBef>
                <a:spcPts val="0"/>
              </a:spcBef>
              <a:spcAft>
                <a:spcPts val="0"/>
              </a:spcAft>
              <a:defRPr sz="3100" b="1">
                <a:solidFill>
                  <a:srgbClr val="142438"/>
                </a:solidFill>
                <a:latin typeface="Arial"/>
              </a:defRPr>
            </a:pPr>
            <a:r>
              <a:t>План дальнейшей работы и критерии результата</a:t>
            </a:r>
          </a:p>
        </p:txBody>
      </p:sp>
      <p:sp>
        <p:nvSpPr>
          <p:cNvPr id="5" name="Rounded Rectangle 4"/>
          <p:cNvSpPr/>
          <p:nvPr/>
        </p:nvSpPr>
        <p:spPr>
          <a:xfrm>
            <a:off x="548640" y="2139696"/>
            <a:ext cx="5394960" cy="166420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322576"/>
            <a:ext cx="4992624" cy="429768"/>
          </a:xfrm>
          <a:prstGeom prst="rect">
            <a:avLst/>
          </a:prstGeom>
          <a:noFill/>
        </p:spPr>
        <p:txBody>
          <a:bodyPr wrap="none" lIns="0" rIns="0" tIns="0" bIns="0">
            <a:spAutoFit/>
          </a:bodyPr>
          <a:lstStyle/>
          <a:p>
            <a:pPr>
              <a:lnSpc>
                <a:spcPct val="116000"/>
              </a:lnSpc>
              <a:spcBef>
                <a:spcPts val="0"/>
              </a:spcBef>
              <a:spcAft>
                <a:spcPts val="0"/>
              </a:spcAft>
              <a:defRPr sz="2100" b="1">
                <a:solidFill>
                  <a:srgbClr val="087F8C"/>
                </a:solidFill>
                <a:latin typeface="Arial"/>
              </a:defRPr>
            </a:pPr>
            <a:r>
              <a:t>1 · Корпус и модели</a:t>
            </a:r>
          </a:p>
        </p:txBody>
      </p:sp>
      <p:sp>
        <p:nvSpPr>
          <p:cNvPr id="7" name="TextBox 6"/>
          <p:cNvSpPr txBox="1"/>
          <p:nvPr/>
        </p:nvSpPr>
        <p:spPr>
          <a:xfrm>
            <a:off x="749808" y="2880360"/>
            <a:ext cx="4992624" cy="795528"/>
          </a:xfrm>
          <a:prstGeom prst="rect">
            <a:avLst/>
          </a:prstGeom>
          <a:noFill/>
        </p:spPr>
        <p:txBody>
          <a:bodyPr wrap="none" lIns="0" rIns="0" tIns="0" bIns="0">
            <a:spAutoFit/>
          </a:bodyPr>
          <a:lstStyle/>
          <a:p>
            <a:pPr>
              <a:lnSpc>
                <a:spcPct val="116000"/>
              </a:lnSpc>
              <a:spcBef>
                <a:spcPts val="0"/>
              </a:spcBef>
              <a:spcAft>
                <a:spcPts val="0"/>
              </a:spcAft>
              <a:defRPr sz="1750" b="0">
                <a:solidFill>
                  <a:srgbClr val="526579"/>
                </a:solidFill>
                <a:latin typeface="Arial"/>
              </a:defRPr>
            </a:pPr>
            <a:r>
              <a:t>Проверить данные и параметры моделей.</a:t>
            </a:r>
          </a:p>
          <a:p>
            <a:pPr>
              <a:lnSpc>
                <a:spcPct val="116000"/>
              </a:lnSpc>
              <a:spcBef>
                <a:spcPts val="0"/>
              </a:spcBef>
              <a:spcAft>
                <a:spcPts val="0"/>
              </a:spcAft>
              <a:defRPr sz="1750" b="0">
                <a:solidFill>
                  <a:srgbClr val="526579"/>
                </a:solidFill>
                <a:latin typeface="Arial"/>
              </a:defRPr>
            </a:pPr>
            <a:r>
              <a:t>Результат: воспроизводимый прогноз продаж.</a:t>
            </a:r>
          </a:p>
        </p:txBody>
      </p:sp>
      <p:sp>
        <p:nvSpPr>
          <p:cNvPr id="8" name="Rounded Rectangle 7"/>
          <p:cNvSpPr/>
          <p:nvPr/>
        </p:nvSpPr>
        <p:spPr>
          <a:xfrm>
            <a:off x="6217920" y="2139696"/>
            <a:ext cx="5394960" cy="166420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322576"/>
            <a:ext cx="4992624" cy="429768"/>
          </a:xfrm>
          <a:prstGeom prst="rect">
            <a:avLst/>
          </a:prstGeom>
          <a:noFill/>
        </p:spPr>
        <p:txBody>
          <a:bodyPr wrap="none" lIns="0" rIns="0" tIns="0" bIns="0">
            <a:spAutoFit/>
          </a:bodyPr>
          <a:lstStyle/>
          <a:p>
            <a:pPr>
              <a:lnSpc>
                <a:spcPct val="116000"/>
              </a:lnSpc>
              <a:spcBef>
                <a:spcPts val="0"/>
              </a:spcBef>
              <a:spcAft>
                <a:spcPts val="0"/>
              </a:spcAft>
              <a:defRPr sz="2100" b="1">
                <a:solidFill>
                  <a:srgbClr val="087F8C"/>
                </a:solidFill>
                <a:latin typeface="Arial"/>
              </a:defRPr>
            </a:pPr>
            <a:r>
              <a:t>2 · Игровая оценка</a:t>
            </a:r>
          </a:p>
        </p:txBody>
      </p:sp>
      <p:sp>
        <p:nvSpPr>
          <p:cNvPr id="10" name="TextBox 9"/>
          <p:cNvSpPr txBox="1"/>
          <p:nvPr/>
        </p:nvSpPr>
        <p:spPr>
          <a:xfrm>
            <a:off x="6419088" y="2880360"/>
            <a:ext cx="4992624" cy="79552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Сравнить устройства советчика на независимых</a:t>
            </a:r>
          </a:p>
          <a:p>
            <a:pPr>
              <a:lnSpc>
                <a:spcPct val="116000"/>
              </a:lnSpc>
              <a:spcBef>
                <a:spcPts val="0"/>
              </a:spcBef>
              <a:spcAft>
                <a:spcPts val="0"/>
              </a:spcAft>
              <a:defRPr sz="1700" b="0">
                <a:solidFill>
                  <a:srgbClr val="526579"/>
                </a:solidFill>
                <a:latin typeface="Arial"/>
              </a:defRPr>
            </a:pPr>
            <a:r>
              <a:t>парах. Результат: подтверждённый вклад</a:t>
            </a:r>
          </a:p>
          <a:p>
            <a:pPr>
              <a:lnSpc>
                <a:spcPct val="116000"/>
              </a:lnSpc>
              <a:spcBef>
                <a:spcPts val="0"/>
              </a:spcBef>
              <a:spcAft>
                <a:spcPts val="0"/>
              </a:spcAft>
              <a:defRPr sz="1700" b="0">
                <a:solidFill>
                  <a:srgbClr val="526579"/>
                </a:solidFill>
                <a:latin typeface="Arial"/>
              </a:defRPr>
            </a:pPr>
            <a:r>
              <a:t>компонентов.</a:t>
            </a:r>
          </a:p>
        </p:txBody>
      </p:sp>
      <p:sp>
        <p:nvSpPr>
          <p:cNvPr id="11" name="Rounded Rectangle 10"/>
          <p:cNvSpPr/>
          <p:nvPr/>
        </p:nvSpPr>
        <p:spPr>
          <a:xfrm>
            <a:off x="548640" y="3986783"/>
            <a:ext cx="5394960" cy="166420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169663"/>
            <a:ext cx="4992624" cy="429768"/>
          </a:xfrm>
          <a:prstGeom prst="rect">
            <a:avLst/>
          </a:prstGeom>
          <a:noFill/>
        </p:spPr>
        <p:txBody>
          <a:bodyPr wrap="none" lIns="0" rIns="0" tIns="0" bIns="0">
            <a:spAutoFit/>
          </a:bodyPr>
          <a:lstStyle/>
          <a:p>
            <a:pPr>
              <a:lnSpc>
                <a:spcPct val="116000"/>
              </a:lnSpc>
              <a:spcBef>
                <a:spcPts val="0"/>
              </a:spcBef>
              <a:spcAft>
                <a:spcPts val="0"/>
              </a:spcAft>
              <a:defRPr sz="2100" b="1">
                <a:solidFill>
                  <a:srgbClr val="087F8C"/>
                </a:solidFill>
                <a:latin typeface="Arial"/>
              </a:defRPr>
            </a:pPr>
            <a:r>
              <a:t>3 · LLM и RAG</a:t>
            </a:r>
          </a:p>
        </p:txBody>
      </p:sp>
      <p:sp>
        <p:nvSpPr>
          <p:cNvPr id="13" name="TextBox 12"/>
          <p:cNvSpPr txBox="1"/>
          <p:nvPr/>
        </p:nvSpPr>
        <p:spPr>
          <a:xfrm>
            <a:off x="749808" y="4727448"/>
            <a:ext cx="4992624" cy="79552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Проверенные факты, база правил, ссылки.</a:t>
            </a:r>
          </a:p>
          <a:p>
            <a:pPr>
              <a:lnSpc>
                <a:spcPct val="116000"/>
              </a:lnSpc>
              <a:spcBef>
                <a:spcPts val="0"/>
              </a:spcBef>
              <a:spcAft>
                <a:spcPts val="0"/>
              </a:spcAft>
              <a:defRPr sz="1700" b="0">
                <a:solidFill>
                  <a:srgbClr val="526579"/>
                </a:solidFill>
                <a:latin typeface="Arial"/>
              </a:defRPr>
            </a:pPr>
            <a:r>
              <a:t>Результат: корректные и понятные объяснения</a:t>
            </a:r>
          </a:p>
          <a:p>
            <a:pPr>
              <a:lnSpc>
                <a:spcPct val="116000"/>
              </a:lnSpc>
              <a:spcBef>
                <a:spcPts val="0"/>
              </a:spcBef>
              <a:spcAft>
                <a:spcPts val="0"/>
              </a:spcAft>
              <a:defRPr sz="1700" b="0">
                <a:solidFill>
                  <a:srgbClr val="526579"/>
                </a:solidFill>
                <a:latin typeface="Arial"/>
              </a:defRPr>
            </a:pPr>
            <a:r>
              <a:t>на наборе вопросов.</a:t>
            </a:r>
          </a:p>
        </p:txBody>
      </p:sp>
      <p:sp>
        <p:nvSpPr>
          <p:cNvPr id="14" name="Rounded Rectangle 13"/>
          <p:cNvSpPr/>
          <p:nvPr/>
        </p:nvSpPr>
        <p:spPr>
          <a:xfrm>
            <a:off x="6217920" y="3986783"/>
            <a:ext cx="5394960" cy="166420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4169663"/>
            <a:ext cx="4992624" cy="429768"/>
          </a:xfrm>
          <a:prstGeom prst="rect">
            <a:avLst/>
          </a:prstGeom>
          <a:noFill/>
        </p:spPr>
        <p:txBody>
          <a:bodyPr wrap="none" lIns="0" rIns="0" tIns="0" bIns="0">
            <a:spAutoFit/>
          </a:bodyPr>
          <a:lstStyle/>
          <a:p>
            <a:pPr>
              <a:lnSpc>
                <a:spcPct val="116000"/>
              </a:lnSpc>
              <a:spcBef>
                <a:spcPts val="0"/>
              </a:spcBef>
              <a:spcAft>
                <a:spcPts val="0"/>
              </a:spcAft>
              <a:defRPr sz="2100" b="1">
                <a:solidFill>
                  <a:srgbClr val="087F8C"/>
                </a:solidFill>
                <a:latin typeface="Arial"/>
              </a:defRPr>
            </a:pPr>
            <a:r>
              <a:t>4 · Проверка на игроках</a:t>
            </a:r>
          </a:p>
        </p:txBody>
      </p:sp>
      <p:sp>
        <p:nvSpPr>
          <p:cNvPr id="16" name="TextBox 15"/>
          <p:cNvSpPr txBox="1"/>
          <p:nvPr/>
        </p:nvSpPr>
        <p:spPr>
          <a:xfrm>
            <a:off x="6419088" y="4727448"/>
            <a:ext cx="4992624" cy="795528"/>
          </a:xfrm>
          <a:prstGeom prst="rect">
            <a:avLst/>
          </a:prstGeom>
          <a:noFill/>
        </p:spPr>
        <p:txBody>
          <a:bodyPr wrap="none" lIns="0" rIns="0" tIns="0" bIns="0">
            <a:spAutoFit/>
          </a:bodyPr>
          <a:lstStyle/>
          <a:p>
            <a:pPr>
              <a:lnSpc>
                <a:spcPct val="116000"/>
              </a:lnSpc>
              <a:spcBef>
                <a:spcPts val="0"/>
              </a:spcBef>
              <a:spcAft>
                <a:spcPts val="0"/>
              </a:spcAft>
              <a:defRPr sz="1700" b="0">
                <a:solidFill>
                  <a:srgbClr val="526579"/>
                </a:solidFill>
                <a:latin typeface="Arial"/>
              </a:defRPr>
            </a:pPr>
            <a:r>
              <a:t>Перенос проверенной версии и</a:t>
            </a:r>
          </a:p>
          <a:p>
            <a:pPr>
              <a:lnSpc>
                <a:spcPct val="116000"/>
              </a:lnSpc>
              <a:spcBef>
                <a:spcPts val="0"/>
              </a:spcBef>
              <a:spcAft>
                <a:spcPts val="0"/>
              </a:spcAft>
              <a:defRPr sz="1700" b="0">
                <a:solidFill>
                  <a:srgbClr val="526579"/>
                </a:solidFill>
                <a:latin typeface="Arial"/>
              </a:defRPr>
            </a:pPr>
            <a:r>
              <a:t>пользовательский пилот. Результат:</a:t>
            </a:r>
          </a:p>
          <a:p>
            <a:pPr>
              <a:lnSpc>
                <a:spcPct val="116000"/>
              </a:lnSpc>
              <a:spcBef>
                <a:spcPts val="0"/>
              </a:spcBef>
              <a:spcAft>
                <a:spcPts val="0"/>
              </a:spcAft>
              <a:defRPr sz="1700" b="0">
                <a:solidFill>
                  <a:srgbClr val="526579"/>
                </a:solidFill>
                <a:latin typeface="Arial"/>
              </a:defRPr>
            </a:pPr>
            <a:r>
              <a:t>применимость советов и понимание игроком.</a:t>
            </a:r>
          </a:p>
        </p:txBody>
      </p:sp>
      <p:sp>
        <p:nvSpPr>
          <p:cNvPr id="17" name="Rectangle 16"/>
          <p:cNvSpPr/>
          <p:nvPr/>
        </p:nvSpPr>
        <p:spPr>
          <a:xfrm>
            <a:off x="548640" y="6437376"/>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e-game · агенты рекомендаций · 09.10.2026</a:t>
            </a:r>
          </a:p>
        </p:txBody>
      </p:sp>
      <p:sp>
        <p:nvSpPr>
          <p:cNvPr id="19" name="TextBox 18"/>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526579"/>
                </a:solidFill>
                <a:latin typeface="Arial"/>
              </a:defRPr>
            </a:pPr>
            <a: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438"/>
        </a:solidFill>
        <a:effectLst/>
      </p:bgPr>
    </p:bg>
    <p:spTree>
      <p:nvGrpSpPr>
        <p:cNvPr id="1" name=""/>
        <p:cNvGrpSpPr/>
        <p:nvPr/>
      </p:nvGrpSpPr>
      <p:grpSpPr/>
      <p:sp>
        <p:nvSpPr>
          <p:cNvPr id="2" name="TextBox 1"/>
          <p:cNvSpPr txBox="1"/>
          <p:nvPr/>
        </p:nvSpPr>
        <p:spPr>
          <a:xfrm>
            <a:off x="548640" y="530352"/>
            <a:ext cx="10972800" cy="320040"/>
          </a:xfrm>
          <a:prstGeom prst="rect">
            <a:avLst/>
          </a:prstGeom>
          <a:noFill/>
        </p:spPr>
        <p:txBody>
          <a:bodyPr wrap="none" lIns="0" rIns="0" tIns="0" bIns="0">
            <a:spAutoFit/>
          </a:bodyPr>
          <a:lstStyle/>
          <a:p>
            <a:pPr>
              <a:lnSpc>
                <a:spcPct val="116000"/>
              </a:lnSpc>
              <a:spcBef>
                <a:spcPts val="0"/>
              </a:spcBef>
              <a:spcAft>
                <a:spcPts val="0"/>
              </a:spcAft>
              <a:defRPr sz="1200" b="1">
                <a:solidFill>
                  <a:srgbClr val="77D4D5"/>
                </a:solidFill>
                <a:latin typeface="Arial"/>
              </a:defRPr>
            </a:pPr>
            <a:r>
              <a:t>ЧТО МОЖНО ПОКАЗАТЬ ПРЕПОДАВАТЕЛЮ СЕГОДНЯ</a:t>
            </a:r>
          </a:p>
        </p:txBody>
      </p:sp>
      <p:sp>
        <p:nvSpPr>
          <p:cNvPr id="3" name="TextBox 2"/>
          <p:cNvSpPr txBox="1"/>
          <p:nvPr/>
        </p:nvSpPr>
        <p:spPr>
          <a:xfrm>
            <a:off x="548640" y="1005840"/>
            <a:ext cx="10972800" cy="640080"/>
          </a:xfrm>
          <a:prstGeom prst="rect">
            <a:avLst/>
          </a:prstGeom>
          <a:noFill/>
        </p:spPr>
        <p:txBody>
          <a:bodyPr wrap="none" lIns="0" rIns="0" tIns="0" bIns="0">
            <a:spAutoFit/>
          </a:bodyPr>
          <a:lstStyle/>
          <a:p>
            <a:pPr>
              <a:lnSpc>
                <a:spcPct val="116000"/>
              </a:lnSpc>
              <a:spcBef>
                <a:spcPts val="0"/>
              </a:spcBef>
              <a:spcAft>
                <a:spcPts val="0"/>
              </a:spcAft>
              <a:defRPr sz="3400" b="1">
                <a:solidFill>
                  <a:srgbClr val="FFFFFF"/>
                </a:solidFill>
                <a:latin typeface="Arial"/>
              </a:defRPr>
            </a:pPr>
            <a:r>
              <a:t>Результат шести итераций</a:t>
            </a:r>
          </a:p>
        </p:txBody>
      </p:sp>
      <p:sp>
        <p:nvSpPr>
          <p:cNvPr id="4" name="Rectangle 3"/>
          <p:cNvSpPr/>
          <p:nvPr/>
        </p:nvSpPr>
        <p:spPr>
          <a:xfrm>
            <a:off x="594360" y="1984248"/>
            <a:ext cx="64008" cy="64008"/>
          </a:xfrm>
          <a:prstGeom prst="rect">
            <a:avLst/>
          </a:prstGeom>
          <a:solidFill>
            <a:srgbClr val="77D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865376"/>
            <a:ext cx="10698480" cy="640080"/>
          </a:xfrm>
          <a:prstGeom prst="rect">
            <a:avLst/>
          </a:prstGeom>
          <a:noFill/>
        </p:spPr>
        <p:txBody>
          <a:bodyPr wrap="none" lIns="0" rIns="0" tIns="0" bIns="0">
            <a:spAutoFit/>
          </a:bodyPr>
          <a:lstStyle/>
          <a:p>
            <a:pPr>
              <a:lnSpc>
                <a:spcPct val="116000"/>
              </a:lnSpc>
              <a:spcBef>
                <a:spcPts val="0"/>
              </a:spcBef>
              <a:spcAft>
                <a:spcPts val="0"/>
              </a:spcAft>
              <a:defRPr sz="2200" b="0">
                <a:solidFill>
                  <a:srgbClr val="FFFFFF"/>
                </a:solidFill>
                <a:latin typeface="Arial"/>
              </a:defRPr>
            </a:pPr>
            <a:r>
              <a:t>Работающие агенты рекомендаций и интерфейс сравнения стратегий.</a:t>
            </a:r>
          </a:p>
        </p:txBody>
      </p:sp>
      <p:sp>
        <p:nvSpPr>
          <p:cNvPr id="6" name="Rectangle 5"/>
          <p:cNvSpPr/>
          <p:nvPr/>
        </p:nvSpPr>
        <p:spPr>
          <a:xfrm>
            <a:off x="594360" y="2752344"/>
            <a:ext cx="64008" cy="64008"/>
          </a:xfrm>
          <a:prstGeom prst="rect">
            <a:avLst/>
          </a:prstGeom>
          <a:solidFill>
            <a:srgbClr val="77D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633472"/>
            <a:ext cx="10698480" cy="640080"/>
          </a:xfrm>
          <a:prstGeom prst="rect">
            <a:avLst/>
          </a:prstGeom>
          <a:noFill/>
        </p:spPr>
        <p:txBody>
          <a:bodyPr wrap="none" lIns="0" rIns="0" tIns="0" bIns="0">
            <a:spAutoFit/>
          </a:bodyPr>
          <a:lstStyle/>
          <a:p>
            <a:pPr>
              <a:lnSpc>
                <a:spcPct val="116000"/>
              </a:lnSpc>
              <a:spcBef>
                <a:spcPts val="0"/>
              </a:spcBef>
              <a:spcAft>
                <a:spcPts val="0"/>
              </a:spcAft>
              <a:defRPr sz="2200" b="0">
                <a:solidFill>
                  <a:srgbClr val="FFFFFF"/>
                </a:solidFill>
                <a:latin typeface="Arial"/>
              </a:defRPr>
            </a:pPr>
            <a:r>
              <a:t>Экспериментальный контур: 38 политик и 2 152 игры в текущем обучении.</a:t>
            </a:r>
          </a:p>
        </p:txBody>
      </p:sp>
      <p:sp>
        <p:nvSpPr>
          <p:cNvPr id="8" name="Rectangle 7"/>
          <p:cNvSpPr/>
          <p:nvPr/>
        </p:nvSpPr>
        <p:spPr>
          <a:xfrm>
            <a:off x="594360" y="3520439"/>
            <a:ext cx="64008" cy="64008"/>
          </a:xfrm>
          <a:prstGeom prst="rect">
            <a:avLst/>
          </a:prstGeom>
          <a:solidFill>
            <a:srgbClr val="77D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3401568"/>
            <a:ext cx="10698480" cy="640080"/>
          </a:xfrm>
          <a:prstGeom prst="rect">
            <a:avLst/>
          </a:prstGeom>
          <a:noFill/>
        </p:spPr>
        <p:txBody>
          <a:bodyPr wrap="none" lIns="0" rIns="0" tIns="0" bIns="0">
            <a:spAutoFit/>
          </a:bodyPr>
          <a:lstStyle/>
          <a:p>
            <a:pPr>
              <a:lnSpc>
                <a:spcPct val="116000"/>
              </a:lnSpc>
              <a:spcBef>
                <a:spcPts val="0"/>
              </a:spcBef>
              <a:spcAft>
                <a:spcPts val="0"/>
              </a:spcAft>
              <a:defRPr sz="2050" b="0">
                <a:solidFill>
                  <a:srgbClr val="FFFFFF"/>
                </a:solidFill>
                <a:latin typeface="Arial"/>
              </a:defRPr>
            </a:pPr>
            <a:r>
              <a:t>Сравнение моделей, сохранённые отчёты и инструменты проверки денежного</a:t>
            </a:r>
          </a:p>
          <a:p>
            <a:pPr>
              <a:lnSpc>
                <a:spcPct val="116000"/>
              </a:lnSpc>
              <a:spcBef>
                <a:spcPts val="0"/>
              </a:spcBef>
              <a:spcAft>
                <a:spcPts val="0"/>
              </a:spcAft>
              <a:defRPr sz="2050" b="0">
                <a:solidFill>
                  <a:srgbClr val="FFFFFF"/>
                </a:solidFill>
                <a:latin typeface="Arial"/>
              </a:defRPr>
            </a:pPr>
            <a:r>
              <a:t>эффекта.</a:t>
            </a:r>
          </a:p>
        </p:txBody>
      </p:sp>
      <p:sp>
        <p:nvSpPr>
          <p:cNvPr id="10" name="TextBox 9"/>
          <p:cNvSpPr txBox="1"/>
          <p:nvPr/>
        </p:nvSpPr>
        <p:spPr>
          <a:xfrm>
            <a:off x="548640" y="4361688"/>
            <a:ext cx="10972800" cy="960120"/>
          </a:xfrm>
          <a:prstGeom prst="rect">
            <a:avLst/>
          </a:prstGeom>
          <a:noFill/>
        </p:spPr>
        <p:txBody>
          <a:bodyPr wrap="none" lIns="0" rIns="0" tIns="0" bIns="0">
            <a:spAutoFit/>
          </a:bodyPr>
          <a:lstStyle/>
          <a:p>
            <a:pPr>
              <a:lnSpc>
                <a:spcPct val="116000"/>
              </a:lnSpc>
              <a:spcBef>
                <a:spcPts val="0"/>
              </a:spcBef>
              <a:spcAft>
                <a:spcPts val="0"/>
              </a:spcAft>
              <a:defRPr sz="2400" b="1">
                <a:solidFill>
                  <a:srgbClr val="77D4D5"/>
                </a:solidFill>
                <a:latin typeface="Arial"/>
              </a:defRPr>
            </a:pPr>
            <a:r>
              <a:t>Следующий этап: проверить устройство советчика</a:t>
            </a:r>
          </a:p>
          <a:p>
            <a:pPr>
              <a:lnSpc>
                <a:spcPct val="116000"/>
              </a:lnSpc>
              <a:spcBef>
                <a:spcPts val="0"/>
              </a:spcBef>
              <a:spcAft>
                <a:spcPts val="0"/>
              </a:spcAft>
              <a:defRPr sz="2400" b="1">
                <a:solidFill>
                  <a:srgbClr val="77D4D5"/>
                </a:solidFill>
                <a:latin typeface="Arial"/>
              </a:defRPr>
            </a:pPr>
            <a:r>
              <a:t>и объединить его рекомендации с LLM и знаниями игры.</a:t>
            </a:r>
          </a:p>
        </p:txBody>
      </p:sp>
      <p:sp>
        <p:nvSpPr>
          <p:cNvPr id="11" name="TextBox 10"/>
          <p:cNvSpPr txBox="1"/>
          <p:nvPr/>
        </p:nvSpPr>
        <p:spPr>
          <a:xfrm>
            <a:off x="548640" y="5760720"/>
            <a:ext cx="10972800" cy="411480"/>
          </a:xfrm>
          <a:prstGeom prst="rect">
            <a:avLst/>
          </a:prstGeom>
          <a:noFill/>
        </p:spPr>
        <p:txBody>
          <a:bodyPr wrap="none" lIns="0" rIns="0" tIns="0" bIns="0">
            <a:spAutoFit/>
          </a:bodyPr>
          <a:lstStyle/>
          <a:p>
            <a:pPr>
              <a:lnSpc>
                <a:spcPct val="116000"/>
              </a:lnSpc>
              <a:spcBef>
                <a:spcPts val="0"/>
              </a:spcBef>
              <a:spcAft>
                <a:spcPts val="0"/>
              </a:spcAft>
              <a:defRPr sz="1600" b="0">
                <a:solidFill>
                  <a:srgbClr val="C4D5E5"/>
                </a:solidFill>
                <a:latin typeface="Arial"/>
              </a:defRPr>
            </a:pPr>
            <a:r>
              <a:t>Текущий лучший прогноз — RandomForest. Финальная польза стратегии ещё исследуется.</a:t>
            </a:r>
          </a:p>
        </p:txBody>
      </p:sp>
      <p:sp>
        <p:nvSpPr>
          <p:cNvPr id="12" name="Rectangle 11"/>
          <p:cNvSpPr/>
          <p:nvPr/>
        </p:nvSpPr>
        <p:spPr>
          <a:xfrm>
            <a:off x="548640" y="6437376"/>
            <a:ext cx="11064240" cy="10972"/>
          </a:xfrm>
          <a:prstGeom prst="rect">
            <a:avLst/>
          </a:prstGeom>
          <a:solidFill>
            <a:srgbClr val="304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37960"/>
            <a:ext cx="9875520" cy="219456"/>
          </a:xfrm>
          <a:prstGeom prst="rect">
            <a:avLst/>
          </a:prstGeom>
          <a:noFill/>
        </p:spPr>
        <p:txBody>
          <a:bodyPr wrap="none" lIns="0" rIns="0" tIns="0" bIns="0">
            <a:spAutoFit/>
          </a:bodyPr>
          <a:lstStyle/>
          <a:p>
            <a:pPr>
              <a:lnSpc>
                <a:spcPct val="116000"/>
              </a:lnSpc>
              <a:spcBef>
                <a:spcPts val="0"/>
              </a:spcBef>
              <a:spcAft>
                <a:spcPts val="0"/>
              </a:spcAft>
              <a:defRPr sz="1000" b="0">
                <a:solidFill>
                  <a:srgbClr val="A9BACB"/>
                </a:solidFill>
                <a:latin typeface="Arial"/>
              </a:defRPr>
            </a:pPr>
            <a:r>
              <a:t>e-game · агенты рекомендаций · 09.10.2026</a:t>
            </a:r>
          </a:p>
        </p:txBody>
      </p:sp>
      <p:sp>
        <p:nvSpPr>
          <p:cNvPr id="14" name="TextBox 13"/>
          <p:cNvSpPr txBox="1"/>
          <p:nvPr/>
        </p:nvSpPr>
        <p:spPr>
          <a:xfrm>
            <a:off x="11018520" y="6510528"/>
            <a:ext cx="594360" cy="256032"/>
          </a:xfrm>
          <a:prstGeom prst="rect">
            <a:avLst/>
          </a:prstGeom>
          <a:noFill/>
        </p:spPr>
        <p:txBody>
          <a:bodyPr wrap="none" lIns="0" rIns="0" tIns="0" bIns="0">
            <a:spAutoFit/>
          </a:bodyPr>
          <a:lstStyle/>
          <a:p>
            <a:pPr>
              <a:lnSpc>
                <a:spcPct val="116000"/>
              </a:lnSpc>
              <a:spcBef>
                <a:spcPts val="0"/>
              </a:spcBef>
              <a:spcAft>
                <a:spcPts val="0"/>
              </a:spcAft>
              <a:defRPr sz="1000" b="0">
                <a:solidFill>
                  <a:srgbClr val="A9BACB"/>
                </a:solidFill>
                <a:latin typeface="Arial"/>
              </a:defRPr>
            </a:pPr>
            <a: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Агенты рекомендаций стратегий в e-game: шесть итераций</dc:title>
  <dc:subject>Результаты реализации, исследования и план ML + LLM + RAG</dc:subject>
  <dc:creator>Проект e-game</dc:creator>
  <cp:keywords>e-game, агенты, стратегии, ML, LLM, RAG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